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3"/>
  </p:notesMasterIdLst>
  <p:handoutMasterIdLst>
    <p:handoutMasterId r:id="rId14"/>
  </p:handoutMasterIdLst>
  <p:sldIdLst>
    <p:sldId id="257" r:id="rId2"/>
    <p:sldId id="259" r:id="rId3"/>
    <p:sldId id="258" r:id="rId4"/>
    <p:sldId id="260" r:id="rId5"/>
    <p:sldId id="261" r:id="rId6"/>
    <p:sldId id="263" r:id="rId7"/>
    <p:sldId id="264" r:id="rId8"/>
    <p:sldId id="265" r:id="rId9"/>
    <p:sldId id="267" r:id="rId10"/>
    <p:sldId id="262" r:id="rId11"/>
    <p:sldId id="268" r:id="rId12"/>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660" autoAdjust="0"/>
    <p:restoredTop sz="86375" autoAdjust="0"/>
  </p:normalViewPr>
  <p:slideViewPr>
    <p:cSldViewPr snapToGrid="0">
      <p:cViewPr varScale="1">
        <p:scale>
          <a:sx n="63" d="100"/>
          <a:sy n="63" d="100"/>
        </p:scale>
        <p:origin x="400" y="48"/>
      </p:cViewPr>
      <p:guideLst/>
    </p:cSldViewPr>
  </p:slideViewPr>
  <p:outlineViewPr>
    <p:cViewPr>
      <p:scale>
        <a:sx n="33" d="100"/>
        <a:sy n="33" d="100"/>
      </p:scale>
      <p:origin x="0" y="-7844"/>
    </p:cViewPr>
  </p:outlin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70FD8F-0050-42E3-8B3A-6ED7CFB9852E}" type="doc">
      <dgm:prSet loTypeId="urn:microsoft.com/office/officeart/2016/7/layout/RoundedRectangleTimeline" loCatId="process" qsTypeId="urn:microsoft.com/office/officeart/2005/8/quickstyle/simple1" qsCatId="simple" csTypeId="urn:microsoft.com/office/officeart/2005/8/colors/accent1_3" csCatId="accent1" phldr="1"/>
      <dgm:spPr/>
      <dgm:t>
        <a:bodyPr rtlCol="0"/>
        <a:lstStyle/>
        <a:p>
          <a:pPr rtl="0"/>
          <a:endParaRPr lang="en-US"/>
        </a:p>
      </dgm:t>
    </dgm:pt>
    <dgm:pt modelId="{8DB5D7D5-6A1C-4ABC-8850-759A9D876047}">
      <dgm:prSet/>
      <dgm:spPr/>
      <dgm:t>
        <a:bodyPr rtlCol="0"/>
        <a:lstStyle/>
        <a:p>
          <a:pPr rtl="0"/>
          <a:r>
            <a:rPr lang="fr" dirty="0"/>
            <a:t>1. DATA</a:t>
          </a:r>
        </a:p>
      </dgm:t>
    </dgm:pt>
    <dgm:pt modelId="{D8874F40-D7B0-41DE-BB6F-A6014FEAB2D7}" type="parTrans" cxnId="{C5202EE1-10E9-4076-9D55-9E0CF8B152AF}">
      <dgm:prSet/>
      <dgm:spPr/>
      <dgm:t>
        <a:bodyPr rtlCol="0"/>
        <a:lstStyle/>
        <a:p>
          <a:pPr rtl="0"/>
          <a:endParaRPr lang="en-US"/>
        </a:p>
      </dgm:t>
    </dgm:pt>
    <dgm:pt modelId="{BD6E0A2E-99C8-4F5A-971A-CD211D1099FF}" type="sibTrans" cxnId="{C5202EE1-10E9-4076-9D55-9E0CF8B152AF}">
      <dgm:prSet/>
      <dgm:spPr/>
      <dgm:t>
        <a:bodyPr rtlCol="0"/>
        <a:lstStyle/>
        <a:p>
          <a:pPr rtl="0"/>
          <a:endParaRPr lang="en-US"/>
        </a:p>
      </dgm:t>
    </dgm:pt>
    <dgm:pt modelId="{96262926-A67D-4E4E-9515-5EBC67F0B634}">
      <dgm:prSet/>
      <dgm:spPr/>
      <dgm:t>
        <a:bodyPr rtlCol="0"/>
        <a:lstStyle/>
        <a:p>
          <a:pPr algn="ctr" rtl="0"/>
          <a:r>
            <a:rPr lang="fr" dirty="0"/>
            <a:t>Analyse: Merise Data Modeling &amp; RGPD</a:t>
          </a:r>
        </a:p>
      </dgm:t>
    </dgm:pt>
    <dgm:pt modelId="{EC74E552-C501-4B0E-9400-E8B410F53D50}" type="parTrans" cxnId="{8C5B110A-FBC3-4CBF-BED2-413E87D4DAD5}">
      <dgm:prSet/>
      <dgm:spPr/>
      <dgm:t>
        <a:bodyPr rtlCol="0"/>
        <a:lstStyle/>
        <a:p>
          <a:pPr rtl="0"/>
          <a:endParaRPr lang="en-US"/>
        </a:p>
      </dgm:t>
    </dgm:pt>
    <dgm:pt modelId="{1DA7ACEB-F642-43C1-BCB5-F580B9B985B9}" type="sibTrans" cxnId="{8C5B110A-FBC3-4CBF-BED2-413E87D4DAD5}">
      <dgm:prSet/>
      <dgm:spPr/>
      <dgm:t>
        <a:bodyPr rtlCol="0"/>
        <a:lstStyle/>
        <a:p>
          <a:pPr rtl="0"/>
          <a:endParaRPr lang="en-US"/>
        </a:p>
      </dgm:t>
    </dgm:pt>
    <dgm:pt modelId="{C5146535-FD3D-4589-98A3-623B8DA4B8DB}">
      <dgm:prSet/>
      <dgm:spPr/>
      <dgm:t>
        <a:bodyPr rtlCol="0"/>
        <a:lstStyle/>
        <a:p>
          <a:pPr rtl="0"/>
          <a:r>
            <a:rPr lang="fr" dirty="0"/>
            <a:t>2. Modelisation / Machine learning</a:t>
          </a:r>
        </a:p>
      </dgm:t>
    </dgm:pt>
    <dgm:pt modelId="{20848F78-EC70-4162-96CE-CC68006930F0}" type="parTrans" cxnId="{8EBF857E-7408-4941-91E4-293B0F59EEF7}">
      <dgm:prSet/>
      <dgm:spPr/>
      <dgm:t>
        <a:bodyPr rtlCol="0"/>
        <a:lstStyle/>
        <a:p>
          <a:pPr rtl="0"/>
          <a:endParaRPr lang="en-US"/>
        </a:p>
      </dgm:t>
    </dgm:pt>
    <dgm:pt modelId="{7A3CCAF8-AC3A-401E-AEDD-44BBC1AA9C31}" type="sibTrans" cxnId="{8EBF857E-7408-4941-91E4-293B0F59EEF7}">
      <dgm:prSet/>
      <dgm:spPr/>
      <dgm:t>
        <a:bodyPr rtlCol="0"/>
        <a:lstStyle/>
        <a:p>
          <a:pPr rtl="0"/>
          <a:endParaRPr lang="en-US"/>
        </a:p>
      </dgm:t>
    </dgm:pt>
    <dgm:pt modelId="{E80CA270-6C90-4E17-ACEA-46B56AD54DD1}">
      <dgm:prSet/>
      <dgm:spPr/>
      <dgm:t>
        <a:bodyPr rtlCol="0"/>
        <a:lstStyle/>
        <a:p>
          <a:pPr algn="l" rtl="0"/>
          <a:r>
            <a:rPr lang="fr" dirty="0"/>
            <a:t>RUN 1</a:t>
          </a:r>
        </a:p>
      </dgm:t>
    </dgm:pt>
    <dgm:pt modelId="{7EEC8067-96EF-4BE0-8BE3-BA59ED78A31F}" type="parTrans" cxnId="{2DC28DF8-5C1B-4F53-A4C1-D5B63FB54BAF}">
      <dgm:prSet/>
      <dgm:spPr/>
      <dgm:t>
        <a:bodyPr rtlCol="0"/>
        <a:lstStyle/>
        <a:p>
          <a:pPr rtl="0"/>
          <a:endParaRPr lang="en-US"/>
        </a:p>
      </dgm:t>
    </dgm:pt>
    <dgm:pt modelId="{1AFE46E5-6B07-4894-8ECB-21BD7E7B8AF1}" type="sibTrans" cxnId="{2DC28DF8-5C1B-4F53-A4C1-D5B63FB54BAF}">
      <dgm:prSet/>
      <dgm:spPr/>
      <dgm:t>
        <a:bodyPr rtlCol="0"/>
        <a:lstStyle/>
        <a:p>
          <a:pPr rtl="0"/>
          <a:endParaRPr lang="en-US"/>
        </a:p>
      </dgm:t>
    </dgm:pt>
    <dgm:pt modelId="{09C152DA-7620-4852-8162-A77EC3609F3F}">
      <dgm:prSet/>
      <dgm:spPr/>
      <dgm:t>
        <a:bodyPr rtlCol="0"/>
        <a:lstStyle/>
        <a:p>
          <a:pPr rtl="0"/>
          <a:r>
            <a:rPr lang="fr" dirty="0"/>
            <a:t>3. Application finale</a:t>
          </a:r>
        </a:p>
      </dgm:t>
    </dgm:pt>
    <dgm:pt modelId="{9F6D14C0-6C82-4CBD-8D6D-B0E117B6F2ED}" type="parTrans" cxnId="{23ECAC8B-17A4-4883-AA0E-06D66B7E788A}">
      <dgm:prSet/>
      <dgm:spPr/>
      <dgm:t>
        <a:bodyPr rtlCol="0"/>
        <a:lstStyle/>
        <a:p>
          <a:pPr rtl="0"/>
          <a:endParaRPr lang="en-US"/>
        </a:p>
      </dgm:t>
    </dgm:pt>
    <dgm:pt modelId="{0AE8D36D-0F0F-4206-AE39-0A2D73987B68}" type="sibTrans" cxnId="{23ECAC8B-17A4-4883-AA0E-06D66B7E788A}">
      <dgm:prSet/>
      <dgm:spPr/>
      <dgm:t>
        <a:bodyPr rtlCol="0"/>
        <a:lstStyle/>
        <a:p>
          <a:pPr rtl="0"/>
          <a:endParaRPr lang="en-US"/>
        </a:p>
      </dgm:t>
    </dgm:pt>
    <dgm:pt modelId="{6C8937BE-93F8-4DED-8538-1C601DAEBA66}">
      <dgm:prSet/>
      <dgm:spPr/>
      <dgm:t>
        <a:bodyPr rtlCol="0"/>
        <a:lstStyle/>
        <a:p>
          <a:pPr rtl="0"/>
          <a:r>
            <a:rPr lang="fr" dirty="0"/>
            <a:t>Lorem ipsum dolor sit amet</a:t>
          </a:r>
        </a:p>
      </dgm:t>
    </dgm:pt>
    <dgm:pt modelId="{77D169C6-D77F-456D-B18B-D7BE016AD87A}" type="parTrans" cxnId="{FAA8D3DD-12E8-457D-9144-B037C5678347}">
      <dgm:prSet/>
      <dgm:spPr/>
      <dgm:t>
        <a:bodyPr rtlCol="0"/>
        <a:lstStyle/>
        <a:p>
          <a:pPr rtl="0"/>
          <a:endParaRPr lang="en-US"/>
        </a:p>
      </dgm:t>
    </dgm:pt>
    <dgm:pt modelId="{A97BE953-FA9D-4BA6-A92C-494DB1F3BA59}" type="sibTrans" cxnId="{FAA8D3DD-12E8-457D-9144-B037C5678347}">
      <dgm:prSet/>
      <dgm:spPr/>
      <dgm:t>
        <a:bodyPr rtlCol="0"/>
        <a:lstStyle/>
        <a:p>
          <a:pPr rtl="0"/>
          <a:endParaRPr lang="en-US"/>
        </a:p>
      </dgm:t>
    </dgm:pt>
    <dgm:pt modelId="{7D74539F-ED93-454A-BF39-363EE2C24CCA}">
      <dgm:prSet/>
      <dgm:spPr/>
      <dgm:t>
        <a:bodyPr rtlCol="0"/>
        <a:lstStyle/>
        <a:p>
          <a:pPr algn="ctr" rtl="0"/>
          <a:r>
            <a:rPr lang="fr" dirty="0"/>
            <a:t>Choix architecture + technologies</a:t>
          </a:r>
        </a:p>
      </dgm:t>
    </dgm:pt>
    <dgm:pt modelId="{B3BAFF24-D8B2-4D44-BA57-71F10B1D8AA4}" type="parTrans" cxnId="{C415B9E8-804B-4423-9B53-E376C4BBF969}">
      <dgm:prSet/>
      <dgm:spPr/>
      <dgm:t>
        <a:bodyPr/>
        <a:lstStyle/>
        <a:p>
          <a:endParaRPr lang="fr-FR"/>
        </a:p>
      </dgm:t>
    </dgm:pt>
    <dgm:pt modelId="{0082475D-B016-4BD6-9014-F23FAE99C5D6}" type="sibTrans" cxnId="{C415B9E8-804B-4423-9B53-E376C4BBF969}">
      <dgm:prSet/>
      <dgm:spPr/>
      <dgm:t>
        <a:bodyPr/>
        <a:lstStyle/>
        <a:p>
          <a:endParaRPr lang="fr-FR"/>
        </a:p>
      </dgm:t>
    </dgm:pt>
    <dgm:pt modelId="{0B1B99F5-85FF-4EAE-97D5-9A9B2033AA6C}">
      <dgm:prSet/>
      <dgm:spPr/>
      <dgm:t>
        <a:bodyPr rtlCol="0"/>
        <a:lstStyle/>
        <a:p>
          <a:pPr rtl="0"/>
          <a:r>
            <a:rPr lang="fr" dirty="0"/>
            <a:t>4. Analyse post RUN</a:t>
          </a:r>
        </a:p>
      </dgm:t>
    </dgm:pt>
    <dgm:pt modelId="{37A2EF3C-E4FB-4D61-9FCE-87D16720F0E0}" type="parTrans" cxnId="{D72B06F9-E4EE-4B60-AA3F-4EAED09E9D14}">
      <dgm:prSet/>
      <dgm:spPr/>
      <dgm:t>
        <a:bodyPr/>
        <a:lstStyle/>
        <a:p>
          <a:endParaRPr lang="fr-FR"/>
        </a:p>
      </dgm:t>
    </dgm:pt>
    <dgm:pt modelId="{42490E72-B638-4781-BA5A-2BB907768FDD}" type="sibTrans" cxnId="{D72B06F9-E4EE-4B60-AA3F-4EAED09E9D14}">
      <dgm:prSet/>
      <dgm:spPr/>
      <dgm:t>
        <a:bodyPr/>
        <a:lstStyle/>
        <a:p>
          <a:endParaRPr lang="fr-FR"/>
        </a:p>
      </dgm:t>
    </dgm:pt>
    <dgm:pt modelId="{7D339E3A-B944-4274-8026-D29ED7486B54}">
      <dgm:prSet/>
      <dgm:spPr/>
      <dgm:t>
        <a:bodyPr rtlCol="0"/>
        <a:lstStyle/>
        <a:p>
          <a:pPr algn="l" rtl="0"/>
          <a:r>
            <a:rPr lang="fr" dirty="0"/>
            <a:t>RUN 2</a:t>
          </a:r>
        </a:p>
      </dgm:t>
    </dgm:pt>
    <dgm:pt modelId="{E50C093F-1E05-414F-ACB5-0BDA9F07E0D4}" type="parTrans" cxnId="{04138A88-1D98-40D8-83C5-074E5DB5B954}">
      <dgm:prSet/>
      <dgm:spPr/>
      <dgm:t>
        <a:bodyPr/>
        <a:lstStyle/>
        <a:p>
          <a:endParaRPr lang="fr-FR"/>
        </a:p>
      </dgm:t>
    </dgm:pt>
    <dgm:pt modelId="{4FE908B2-F439-4396-BFE5-289C399D7632}" type="sibTrans" cxnId="{04138A88-1D98-40D8-83C5-074E5DB5B954}">
      <dgm:prSet/>
      <dgm:spPr/>
      <dgm:t>
        <a:bodyPr/>
        <a:lstStyle/>
        <a:p>
          <a:endParaRPr lang="fr-FR"/>
        </a:p>
      </dgm:t>
    </dgm:pt>
    <dgm:pt modelId="{CF826878-65EA-4DC0-B8D5-8D34CCC7C9F7}">
      <dgm:prSet/>
      <dgm:spPr/>
      <dgm:t>
        <a:bodyPr rtlCol="0"/>
        <a:lstStyle/>
        <a:p>
          <a:pPr algn="l" rtl="0"/>
          <a:r>
            <a:rPr lang="fr" dirty="0"/>
            <a:t>Adaptations</a:t>
          </a:r>
        </a:p>
      </dgm:t>
    </dgm:pt>
    <dgm:pt modelId="{CCEE65E5-7054-47E3-965B-AECA9C76A571}" type="parTrans" cxnId="{3A0DB475-3A57-4AF7-977E-10920DBB36DD}">
      <dgm:prSet/>
      <dgm:spPr/>
      <dgm:t>
        <a:bodyPr/>
        <a:lstStyle/>
        <a:p>
          <a:endParaRPr lang="fr-FR"/>
        </a:p>
      </dgm:t>
    </dgm:pt>
    <dgm:pt modelId="{E06B4731-817B-4E7A-B1FA-5E2E5863607B}" type="sibTrans" cxnId="{3A0DB475-3A57-4AF7-977E-10920DBB36DD}">
      <dgm:prSet/>
      <dgm:spPr/>
      <dgm:t>
        <a:bodyPr/>
        <a:lstStyle/>
        <a:p>
          <a:endParaRPr lang="fr-FR"/>
        </a:p>
      </dgm:t>
    </dgm:pt>
    <dgm:pt modelId="{79F319B4-00C4-4FC4-B286-02CEB6886863}">
      <dgm:prSet/>
      <dgm:spPr/>
      <dgm:t>
        <a:bodyPr rtlCol="0"/>
        <a:lstStyle/>
        <a:p>
          <a:pPr algn="l" rtl="0"/>
          <a:r>
            <a:rPr lang="fr" dirty="0"/>
            <a:t>…</a:t>
          </a:r>
        </a:p>
      </dgm:t>
    </dgm:pt>
    <dgm:pt modelId="{DD88D9F9-20D3-4FDB-8AA6-36E7923C4186}" type="parTrans" cxnId="{E0FA70F3-F23F-4F72-B396-74332FAA6319}">
      <dgm:prSet/>
      <dgm:spPr/>
      <dgm:t>
        <a:bodyPr/>
        <a:lstStyle/>
        <a:p>
          <a:endParaRPr lang="fr-FR"/>
        </a:p>
      </dgm:t>
    </dgm:pt>
    <dgm:pt modelId="{392F5121-9684-4268-9F91-A349EBE9C372}" type="sibTrans" cxnId="{E0FA70F3-F23F-4F72-B396-74332FAA6319}">
      <dgm:prSet/>
      <dgm:spPr/>
      <dgm:t>
        <a:bodyPr/>
        <a:lstStyle/>
        <a:p>
          <a:endParaRPr lang="fr-FR"/>
        </a:p>
      </dgm:t>
    </dgm:pt>
    <dgm:pt modelId="{2B46572A-2007-4B5B-B017-911845AAC92B}">
      <dgm:prSet/>
      <dgm:spPr/>
      <dgm:t>
        <a:bodyPr rtlCol="0"/>
        <a:lstStyle/>
        <a:p>
          <a:pPr algn="l" rtl="0"/>
          <a:r>
            <a:rPr lang="fr" dirty="0"/>
            <a:t>Analyse et choix final</a:t>
          </a:r>
        </a:p>
      </dgm:t>
    </dgm:pt>
    <dgm:pt modelId="{E02DC520-65C9-4ABE-A44E-37D6CC7F350C}" type="parTrans" cxnId="{2301AA0F-4DE0-47DC-B4F0-B40B48947145}">
      <dgm:prSet/>
      <dgm:spPr/>
      <dgm:t>
        <a:bodyPr/>
        <a:lstStyle/>
        <a:p>
          <a:endParaRPr lang="fr-FR"/>
        </a:p>
      </dgm:t>
    </dgm:pt>
    <dgm:pt modelId="{39E4C11C-6BCA-42CB-9C19-957D1C2ED89C}" type="sibTrans" cxnId="{2301AA0F-4DE0-47DC-B4F0-B40B48947145}">
      <dgm:prSet/>
      <dgm:spPr/>
      <dgm:t>
        <a:bodyPr/>
        <a:lstStyle/>
        <a:p>
          <a:endParaRPr lang="fr-FR"/>
        </a:p>
      </dgm:t>
    </dgm:pt>
    <dgm:pt modelId="{AB52B3CC-6563-466D-BFC3-9B6B5AFA0881}" type="pres">
      <dgm:prSet presAssocID="{6A70FD8F-0050-42E3-8B3A-6ED7CFB9852E}" presName="Name0" presStyleCnt="0">
        <dgm:presLayoutVars>
          <dgm:chMax/>
          <dgm:chPref/>
          <dgm:animLvl val="lvl"/>
        </dgm:presLayoutVars>
      </dgm:prSet>
      <dgm:spPr/>
    </dgm:pt>
    <dgm:pt modelId="{815EDF7B-AC93-4A61-87AA-CAA5D85C31A8}" type="pres">
      <dgm:prSet presAssocID="{8DB5D7D5-6A1C-4ABC-8850-759A9D876047}" presName="composite1" presStyleCnt="0"/>
      <dgm:spPr/>
    </dgm:pt>
    <dgm:pt modelId="{954381E7-0584-46DD-8108-E9BF4F2B5005}" type="pres">
      <dgm:prSet presAssocID="{8DB5D7D5-6A1C-4ABC-8850-759A9D876047}" presName="parent1" presStyleLbl="alignNode1" presStyleIdx="0" presStyleCnt="4">
        <dgm:presLayoutVars>
          <dgm:chMax val="1"/>
          <dgm:chPref val="1"/>
          <dgm:bulletEnabled val="1"/>
        </dgm:presLayoutVars>
      </dgm:prSet>
      <dgm:spPr/>
    </dgm:pt>
    <dgm:pt modelId="{5A1B764B-0DC5-47CD-BDEA-9E67799496EC}" type="pres">
      <dgm:prSet presAssocID="{8DB5D7D5-6A1C-4ABC-8850-759A9D876047}" presName="Childtext1" presStyleLbl="revTx" presStyleIdx="0" presStyleCnt="4">
        <dgm:presLayoutVars>
          <dgm:bulletEnabled val="1"/>
        </dgm:presLayoutVars>
      </dgm:prSet>
      <dgm:spPr/>
    </dgm:pt>
    <dgm:pt modelId="{122B38A3-0442-4747-820C-1F37877E2B0E}" type="pres">
      <dgm:prSet presAssocID="{8DB5D7D5-6A1C-4ABC-8850-759A9D876047}" presName="ConnectLine1" presStyleLbl="sibTrans1D1" presStyleIdx="0" presStyleCnt="4"/>
      <dgm:spPr>
        <a:noFill/>
        <a:ln w="12700" cap="rnd" cmpd="sng" algn="ctr">
          <a:solidFill>
            <a:schemeClr val="accent1">
              <a:shade val="90000"/>
              <a:hueOff val="93466"/>
              <a:satOff val="1924"/>
              <a:lumOff val="8231"/>
              <a:alphaOff val="0"/>
            </a:schemeClr>
          </a:solidFill>
          <a:prstDash val="dash"/>
        </a:ln>
        <a:effectLst/>
      </dgm:spPr>
    </dgm:pt>
    <dgm:pt modelId="{A73181F6-69BB-4A47-8277-4671A45AC8C8}" type="pres">
      <dgm:prSet presAssocID="{8DB5D7D5-6A1C-4ABC-8850-759A9D876047}" presName="ConnectLineEnd1" presStyleLbl="lnNode1" presStyleIdx="0" presStyleCnt="4"/>
      <dgm:spPr/>
    </dgm:pt>
    <dgm:pt modelId="{6E76EADA-5F61-4A59-B2F8-FA10112079FC}" type="pres">
      <dgm:prSet presAssocID="{8DB5D7D5-6A1C-4ABC-8850-759A9D876047}" presName="EmptyPane1" presStyleCnt="0"/>
      <dgm:spPr/>
    </dgm:pt>
    <dgm:pt modelId="{A8189248-0785-43F1-844C-4DE92841F254}" type="pres">
      <dgm:prSet presAssocID="{BD6E0A2E-99C8-4F5A-971A-CD211D1099FF}" presName="spaceBetweenRectangles1" presStyleCnt="0"/>
      <dgm:spPr/>
    </dgm:pt>
    <dgm:pt modelId="{218D9CD7-D48D-464C-9A1C-0F322EC540B3}" type="pres">
      <dgm:prSet presAssocID="{C5146535-FD3D-4589-98A3-623B8DA4B8DB}" presName="composite1" presStyleCnt="0"/>
      <dgm:spPr/>
    </dgm:pt>
    <dgm:pt modelId="{30804A27-188E-4A17-8FFE-97BCCA0597B8}" type="pres">
      <dgm:prSet presAssocID="{C5146535-FD3D-4589-98A3-623B8DA4B8DB}" presName="parent1" presStyleLbl="alignNode1" presStyleIdx="1" presStyleCnt="4">
        <dgm:presLayoutVars>
          <dgm:chMax val="1"/>
          <dgm:chPref val="1"/>
          <dgm:bulletEnabled val="1"/>
        </dgm:presLayoutVars>
      </dgm:prSet>
      <dgm:spPr/>
    </dgm:pt>
    <dgm:pt modelId="{DF65791B-462E-4589-B98D-F60587330CA8}" type="pres">
      <dgm:prSet presAssocID="{C5146535-FD3D-4589-98A3-623B8DA4B8DB}" presName="Childtext1" presStyleLbl="revTx" presStyleIdx="1" presStyleCnt="4">
        <dgm:presLayoutVars>
          <dgm:bulletEnabled val="1"/>
        </dgm:presLayoutVars>
      </dgm:prSet>
      <dgm:spPr/>
    </dgm:pt>
    <dgm:pt modelId="{DBA410EB-5F61-4F46-92D9-C5B0AA59EE15}" type="pres">
      <dgm:prSet presAssocID="{C5146535-FD3D-4589-98A3-623B8DA4B8DB}" presName="ConnectLine1" presStyleLbl="sibTrans1D1" presStyleIdx="1" presStyleCnt="4"/>
      <dgm:spPr>
        <a:noFill/>
        <a:ln w="12700" cap="rnd" cmpd="sng" algn="ctr">
          <a:solidFill>
            <a:schemeClr val="accent1">
              <a:shade val="90000"/>
              <a:hueOff val="140199"/>
              <a:satOff val="2886"/>
              <a:lumOff val="12346"/>
              <a:alphaOff val="0"/>
            </a:schemeClr>
          </a:solidFill>
          <a:prstDash val="dash"/>
        </a:ln>
        <a:effectLst/>
      </dgm:spPr>
    </dgm:pt>
    <dgm:pt modelId="{E1220EDB-B75C-43A5-B862-97E4C09130A7}" type="pres">
      <dgm:prSet presAssocID="{C5146535-FD3D-4589-98A3-623B8DA4B8DB}" presName="ConnectLineEnd1" presStyleLbl="lnNode1" presStyleIdx="1" presStyleCnt="4"/>
      <dgm:spPr/>
    </dgm:pt>
    <dgm:pt modelId="{D8849157-215F-4E70-9735-315E97B5AC5C}" type="pres">
      <dgm:prSet presAssocID="{C5146535-FD3D-4589-98A3-623B8DA4B8DB}" presName="EmptyPane1" presStyleCnt="0"/>
      <dgm:spPr/>
    </dgm:pt>
    <dgm:pt modelId="{7C467054-22FE-4C18-9934-29D7168DFF63}" type="pres">
      <dgm:prSet presAssocID="{7A3CCAF8-AC3A-401E-AEDD-44BBC1AA9C31}" presName="spaceBetweenRectangles1" presStyleCnt="0"/>
      <dgm:spPr/>
    </dgm:pt>
    <dgm:pt modelId="{3E3E944D-A6EC-4962-9AC1-C585A4F97BDA}" type="pres">
      <dgm:prSet presAssocID="{09C152DA-7620-4852-8162-A77EC3609F3F}" presName="composite1" presStyleCnt="0"/>
      <dgm:spPr/>
    </dgm:pt>
    <dgm:pt modelId="{566B79CB-1A41-4F5C-BF91-58D94BF93913}" type="pres">
      <dgm:prSet presAssocID="{09C152DA-7620-4852-8162-A77EC3609F3F}" presName="parent1" presStyleLbl="alignNode1" presStyleIdx="2" presStyleCnt="4">
        <dgm:presLayoutVars>
          <dgm:chMax val="1"/>
          <dgm:chPref val="1"/>
          <dgm:bulletEnabled val="1"/>
        </dgm:presLayoutVars>
      </dgm:prSet>
      <dgm:spPr/>
    </dgm:pt>
    <dgm:pt modelId="{B4723E2A-4FF1-452A-BD25-8EC364F15A6F}" type="pres">
      <dgm:prSet presAssocID="{09C152DA-7620-4852-8162-A77EC3609F3F}" presName="Childtext1" presStyleLbl="revTx" presStyleIdx="2" presStyleCnt="4">
        <dgm:presLayoutVars>
          <dgm:bulletEnabled val="1"/>
        </dgm:presLayoutVars>
      </dgm:prSet>
      <dgm:spPr/>
    </dgm:pt>
    <dgm:pt modelId="{440E9361-37D2-4157-AF38-7B49AD23708B}" type="pres">
      <dgm:prSet presAssocID="{09C152DA-7620-4852-8162-A77EC3609F3F}" presName="ConnectLine1" presStyleLbl="sibTrans1D1" presStyleIdx="2" presStyleCnt="4"/>
      <dgm:spPr>
        <a:noFill/>
        <a:ln w="12700" cap="rnd" cmpd="sng" algn="ctr">
          <a:solidFill>
            <a:schemeClr val="accent1">
              <a:shade val="90000"/>
              <a:hueOff val="186931"/>
              <a:satOff val="3848"/>
              <a:lumOff val="16461"/>
              <a:alphaOff val="0"/>
            </a:schemeClr>
          </a:solidFill>
          <a:prstDash val="dash"/>
        </a:ln>
        <a:effectLst/>
      </dgm:spPr>
    </dgm:pt>
    <dgm:pt modelId="{C45E7B63-1C71-483E-A3A8-705CE86D4D8E}" type="pres">
      <dgm:prSet presAssocID="{09C152DA-7620-4852-8162-A77EC3609F3F}" presName="ConnectLineEnd1" presStyleLbl="lnNode1" presStyleIdx="2" presStyleCnt="4"/>
      <dgm:spPr/>
    </dgm:pt>
    <dgm:pt modelId="{4174F691-D9D3-451C-9893-D177DC3AED58}" type="pres">
      <dgm:prSet presAssocID="{09C152DA-7620-4852-8162-A77EC3609F3F}" presName="EmptyPane1" presStyleCnt="0"/>
      <dgm:spPr/>
    </dgm:pt>
    <dgm:pt modelId="{B17F8343-C161-4432-A7C2-A0AFB672D3CF}" type="pres">
      <dgm:prSet presAssocID="{0AE8D36D-0F0F-4206-AE39-0A2D73987B68}" presName="spaceBetweenRectangles1" presStyleCnt="0"/>
      <dgm:spPr/>
    </dgm:pt>
    <dgm:pt modelId="{FEE7AEA6-1CB7-4602-8D9F-04BFF2A641C4}" type="pres">
      <dgm:prSet presAssocID="{0B1B99F5-85FF-4EAE-97D5-9A9B2033AA6C}" presName="composite1" presStyleCnt="0"/>
      <dgm:spPr/>
    </dgm:pt>
    <dgm:pt modelId="{BB6BE233-1616-4B22-9141-5A6E20DE5FA9}" type="pres">
      <dgm:prSet presAssocID="{0B1B99F5-85FF-4EAE-97D5-9A9B2033AA6C}" presName="parent1" presStyleLbl="alignNode1" presStyleIdx="3" presStyleCnt="4">
        <dgm:presLayoutVars>
          <dgm:chMax val="1"/>
          <dgm:chPref val="1"/>
          <dgm:bulletEnabled val="1"/>
        </dgm:presLayoutVars>
      </dgm:prSet>
      <dgm:spPr/>
    </dgm:pt>
    <dgm:pt modelId="{12694253-3D4A-4011-8E9B-8211229E3763}" type="pres">
      <dgm:prSet presAssocID="{0B1B99F5-85FF-4EAE-97D5-9A9B2033AA6C}" presName="Childtext1" presStyleLbl="revTx" presStyleIdx="3" presStyleCnt="4">
        <dgm:presLayoutVars>
          <dgm:bulletEnabled val="1"/>
        </dgm:presLayoutVars>
      </dgm:prSet>
      <dgm:spPr/>
    </dgm:pt>
    <dgm:pt modelId="{7F745821-A7AE-4F56-AE76-390966DE427D}" type="pres">
      <dgm:prSet presAssocID="{0B1B99F5-85FF-4EAE-97D5-9A9B2033AA6C}" presName="ConnectLine1" presStyleLbl="sibTrans1D1" presStyleIdx="3" presStyleCnt="4"/>
      <dgm:spPr>
        <a:noFill/>
        <a:ln w="12700" cap="rnd" cmpd="sng" algn="ctr">
          <a:solidFill>
            <a:schemeClr val="accent1">
              <a:shade val="90000"/>
              <a:hueOff val="446212"/>
              <a:satOff val="-8602"/>
              <a:lumOff val="28124"/>
              <a:alphaOff val="0"/>
            </a:schemeClr>
          </a:solidFill>
          <a:prstDash val="dash"/>
        </a:ln>
        <a:effectLst/>
      </dgm:spPr>
    </dgm:pt>
    <dgm:pt modelId="{0FC343E2-D734-42BC-AC8E-E395FB198AFF}" type="pres">
      <dgm:prSet presAssocID="{0B1B99F5-85FF-4EAE-97D5-9A9B2033AA6C}" presName="ConnectLineEnd1" presStyleLbl="lnNode1" presStyleIdx="3" presStyleCnt="4"/>
      <dgm:spPr/>
    </dgm:pt>
    <dgm:pt modelId="{47EEAB99-F7BE-49AD-8F4F-CA126F3FCD2B}" type="pres">
      <dgm:prSet presAssocID="{0B1B99F5-85FF-4EAE-97D5-9A9B2033AA6C}" presName="EmptyPane1" presStyleCnt="0"/>
      <dgm:spPr/>
    </dgm:pt>
  </dgm:ptLst>
  <dgm:cxnLst>
    <dgm:cxn modelId="{5C25BB02-FA66-40A4-9DA6-9E1CAE3A8D4E}" type="presOf" srcId="{C5146535-FD3D-4589-98A3-623B8DA4B8DB}" destId="{30804A27-188E-4A17-8FFE-97BCCA0597B8}" srcOrd="0" destOrd="0" presId="urn:microsoft.com/office/officeart/2016/7/layout/RoundedRectangleTimeline"/>
    <dgm:cxn modelId="{DB57C005-BCCC-427B-BB53-511398838344}" type="presOf" srcId="{7D339E3A-B944-4274-8026-D29ED7486B54}" destId="{DF65791B-462E-4589-B98D-F60587330CA8}" srcOrd="0" destOrd="2" presId="urn:microsoft.com/office/officeart/2016/7/layout/RoundedRectangleTimeline"/>
    <dgm:cxn modelId="{8C5B110A-FBC3-4CBF-BED2-413E87D4DAD5}" srcId="{8DB5D7D5-6A1C-4ABC-8850-759A9D876047}" destId="{96262926-A67D-4E4E-9515-5EBC67F0B634}" srcOrd="0" destOrd="0" parTransId="{EC74E552-C501-4B0E-9400-E8B410F53D50}" sibTransId="{1DA7ACEB-F642-43C1-BCB5-F580B9B985B9}"/>
    <dgm:cxn modelId="{2301AA0F-4DE0-47DC-B4F0-B40B48947145}" srcId="{C5146535-FD3D-4589-98A3-623B8DA4B8DB}" destId="{2B46572A-2007-4B5B-B017-911845AAC92B}" srcOrd="4" destOrd="0" parTransId="{E02DC520-65C9-4ABE-A44E-37D6CC7F350C}" sibTransId="{39E4C11C-6BCA-42CB-9C19-957D1C2ED89C}"/>
    <dgm:cxn modelId="{84C67813-55CE-4EBC-9032-03BD847DC17E}" type="presOf" srcId="{6A70FD8F-0050-42E3-8B3A-6ED7CFB9852E}" destId="{AB52B3CC-6563-466D-BFC3-9B6B5AFA0881}" srcOrd="0" destOrd="0" presId="urn:microsoft.com/office/officeart/2016/7/layout/RoundedRectangleTimeline"/>
    <dgm:cxn modelId="{22ECA226-C4EA-44F1-BCB5-77F78841DA6F}" type="presOf" srcId="{09C152DA-7620-4852-8162-A77EC3609F3F}" destId="{566B79CB-1A41-4F5C-BF91-58D94BF93913}" srcOrd="0" destOrd="0" presId="urn:microsoft.com/office/officeart/2016/7/layout/RoundedRectangleTimeline"/>
    <dgm:cxn modelId="{05188130-12A0-47A7-987E-27E9300ADA27}" type="presOf" srcId="{0B1B99F5-85FF-4EAE-97D5-9A9B2033AA6C}" destId="{BB6BE233-1616-4B22-9141-5A6E20DE5FA9}" srcOrd="0" destOrd="0" presId="urn:microsoft.com/office/officeart/2016/7/layout/RoundedRectangleTimeline"/>
    <dgm:cxn modelId="{AF658E34-65E4-48E3-BE22-6D9E44DBBC71}" type="presOf" srcId="{2B46572A-2007-4B5B-B017-911845AAC92B}" destId="{DF65791B-462E-4589-B98D-F60587330CA8}" srcOrd="0" destOrd="4" presId="urn:microsoft.com/office/officeart/2016/7/layout/RoundedRectangleTimeline"/>
    <dgm:cxn modelId="{E2BBA750-A5E4-4F50-BE16-016934379F81}" type="presOf" srcId="{6C8937BE-93F8-4DED-8538-1C601DAEBA66}" destId="{B4723E2A-4FF1-452A-BD25-8EC364F15A6F}" srcOrd="0" destOrd="0" presId="urn:microsoft.com/office/officeart/2016/7/layout/RoundedRectangleTimeline"/>
    <dgm:cxn modelId="{3A0DB475-3A57-4AF7-977E-10920DBB36DD}" srcId="{C5146535-FD3D-4589-98A3-623B8DA4B8DB}" destId="{CF826878-65EA-4DC0-B8D5-8D34CCC7C9F7}" srcOrd="1" destOrd="0" parTransId="{CCEE65E5-7054-47E3-965B-AECA9C76A571}" sibTransId="{E06B4731-817B-4E7A-B1FA-5E2E5863607B}"/>
    <dgm:cxn modelId="{F9B2D375-40BE-4E5D-AA88-61805FBFF819}" type="presOf" srcId="{8DB5D7D5-6A1C-4ABC-8850-759A9D876047}" destId="{954381E7-0584-46DD-8108-E9BF4F2B5005}" srcOrd="0" destOrd="0" presId="urn:microsoft.com/office/officeart/2016/7/layout/RoundedRectangleTimeline"/>
    <dgm:cxn modelId="{8EBF857E-7408-4941-91E4-293B0F59EEF7}" srcId="{6A70FD8F-0050-42E3-8B3A-6ED7CFB9852E}" destId="{C5146535-FD3D-4589-98A3-623B8DA4B8DB}" srcOrd="1" destOrd="0" parTransId="{20848F78-EC70-4162-96CE-CC68006930F0}" sibTransId="{7A3CCAF8-AC3A-401E-AEDD-44BBC1AA9C31}"/>
    <dgm:cxn modelId="{04138A88-1D98-40D8-83C5-074E5DB5B954}" srcId="{C5146535-FD3D-4589-98A3-623B8DA4B8DB}" destId="{7D339E3A-B944-4274-8026-D29ED7486B54}" srcOrd="2" destOrd="0" parTransId="{E50C093F-1E05-414F-ACB5-0BDA9F07E0D4}" sibTransId="{4FE908B2-F439-4396-BFE5-289C399D7632}"/>
    <dgm:cxn modelId="{23ECAC8B-17A4-4883-AA0E-06D66B7E788A}" srcId="{6A70FD8F-0050-42E3-8B3A-6ED7CFB9852E}" destId="{09C152DA-7620-4852-8162-A77EC3609F3F}" srcOrd="2" destOrd="0" parTransId="{9F6D14C0-6C82-4CBD-8D6D-B0E117B6F2ED}" sibTransId="{0AE8D36D-0F0F-4206-AE39-0A2D73987B68}"/>
    <dgm:cxn modelId="{F9540599-A193-456C-A9A9-8962E3855B0B}" type="presOf" srcId="{96262926-A67D-4E4E-9515-5EBC67F0B634}" destId="{5A1B764B-0DC5-47CD-BDEA-9E67799496EC}" srcOrd="0" destOrd="0" presId="urn:microsoft.com/office/officeart/2016/7/layout/RoundedRectangleTimeline"/>
    <dgm:cxn modelId="{E13585A2-54F2-486A-B317-F4D6AF7E83B9}" type="presOf" srcId="{E80CA270-6C90-4E17-ACEA-46B56AD54DD1}" destId="{DF65791B-462E-4589-B98D-F60587330CA8}" srcOrd="0" destOrd="0" presId="urn:microsoft.com/office/officeart/2016/7/layout/RoundedRectangleTimeline"/>
    <dgm:cxn modelId="{92AA93B1-6C39-4E97-B202-9940474C0606}" type="presOf" srcId="{7D74539F-ED93-454A-BF39-363EE2C24CCA}" destId="{5A1B764B-0DC5-47CD-BDEA-9E67799496EC}" srcOrd="0" destOrd="1" presId="urn:microsoft.com/office/officeart/2016/7/layout/RoundedRectangleTimeline"/>
    <dgm:cxn modelId="{7E5F7EDD-5BA5-44BA-B8C9-22E13304CF42}" type="presOf" srcId="{CF826878-65EA-4DC0-B8D5-8D34CCC7C9F7}" destId="{DF65791B-462E-4589-B98D-F60587330CA8}" srcOrd="0" destOrd="1" presId="urn:microsoft.com/office/officeart/2016/7/layout/RoundedRectangleTimeline"/>
    <dgm:cxn modelId="{FAA8D3DD-12E8-457D-9144-B037C5678347}" srcId="{09C152DA-7620-4852-8162-A77EC3609F3F}" destId="{6C8937BE-93F8-4DED-8538-1C601DAEBA66}" srcOrd="0" destOrd="0" parTransId="{77D169C6-D77F-456D-B18B-D7BE016AD87A}" sibTransId="{A97BE953-FA9D-4BA6-A92C-494DB1F3BA59}"/>
    <dgm:cxn modelId="{C5202EE1-10E9-4076-9D55-9E0CF8B152AF}" srcId="{6A70FD8F-0050-42E3-8B3A-6ED7CFB9852E}" destId="{8DB5D7D5-6A1C-4ABC-8850-759A9D876047}" srcOrd="0" destOrd="0" parTransId="{D8874F40-D7B0-41DE-BB6F-A6014FEAB2D7}" sibTransId="{BD6E0A2E-99C8-4F5A-971A-CD211D1099FF}"/>
    <dgm:cxn modelId="{C415B9E8-804B-4423-9B53-E376C4BBF969}" srcId="{8DB5D7D5-6A1C-4ABC-8850-759A9D876047}" destId="{7D74539F-ED93-454A-BF39-363EE2C24CCA}" srcOrd="1" destOrd="0" parTransId="{B3BAFF24-D8B2-4D44-BA57-71F10B1D8AA4}" sibTransId="{0082475D-B016-4BD6-9014-F23FAE99C5D6}"/>
    <dgm:cxn modelId="{2912FCE8-26FB-4AC4-9C31-7E207237E0A9}" type="presOf" srcId="{79F319B4-00C4-4FC4-B286-02CEB6886863}" destId="{DF65791B-462E-4589-B98D-F60587330CA8}" srcOrd="0" destOrd="3" presId="urn:microsoft.com/office/officeart/2016/7/layout/RoundedRectangleTimeline"/>
    <dgm:cxn modelId="{E0FA70F3-F23F-4F72-B396-74332FAA6319}" srcId="{C5146535-FD3D-4589-98A3-623B8DA4B8DB}" destId="{79F319B4-00C4-4FC4-B286-02CEB6886863}" srcOrd="3" destOrd="0" parTransId="{DD88D9F9-20D3-4FDB-8AA6-36E7923C4186}" sibTransId="{392F5121-9684-4268-9F91-A349EBE9C372}"/>
    <dgm:cxn modelId="{2DC28DF8-5C1B-4F53-A4C1-D5B63FB54BAF}" srcId="{C5146535-FD3D-4589-98A3-623B8DA4B8DB}" destId="{E80CA270-6C90-4E17-ACEA-46B56AD54DD1}" srcOrd="0" destOrd="0" parTransId="{7EEC8067-96EF-4BE0-8BE3-BA59ED78A31F}" sibTransId="{1AFE46E5-6B07-4894-8ECB-21BD7E7B8AF1}"/>
    <dgm:cxn modelId="{D72B06F9-E4EE-4B60-AA3F-4EAED09E9D14}" srcId="{6A70FD8F-0050-42E3-8B3A-6ED7CFB9852E}" destId="{0B1B99F5-85FF-4EAE-97D5-9A9B2033AA6C}" srcOrd="3" destOrd="0" parTransId="{37A2EF3C-E4FB-4D61-9FCE-87D16720F0E0}" sibTransId="{42490E72-B638-4781-BA5A-2BB907768FDD}"/>
    <dgm:cxn modelId="{76459B4A-BC95-4631-A3CC-1410E80D5DFD}" type="presParOf" srcId="{AB52B3CC-6563-466D-BFC3-9B6B5AFA0881}" destId="{815EDF7B-AC93-4A61-87AA-CAA5D85C31A8}" srcOrd="0" destOrd="0" presId="urn:microsoft.com/office/officeart/2016/7/layout/RoundedRectangleTimeline"/>
    <dgm:cxn modelId="{4238FA88-CE43-4680-BFB0-73DED5612698}" type="presParOf" srcId="{815EDF7B-AC93-4A61-87AA-CAA5D85C31A8}" destId="{954381E7-0584-46DD-8108-E9BF4F2B5005}" srcOrd="0" destOrd="0" presId="urn:microsoft.com/office/officeart/2016/7/layout/RoundedRectangleTimeline"/>
    <dgm:cxn modelId="{6497CE05-0893-4952-B18A-28D71D90B841}" type="presParOf" srcId="{815EDF7B-AC93-4A61-87AA-CAA5D85C31A8}" destId="{5A1B764B-0DC5-47CD-BDEA-9E67799496EC}" srcOrd="1" destOrd="0" presId="urn:microsoft.com/office/officeart/2016/7/layout/RoundedRectangleTimeline"/>
    <dgm:cxn modelId="{CB8BA570-C0D4-4400-BED8-C9BC961A6553}" type="presParOf" srcId="{815EDF7B-AC93-4A61-87AA-CAA5D85C31A8}" destId="{122B38A3-0442-4747-820C-1F37877E2B0E}" srcOrd="2" destOrd="0" presId="urn:microsoft.com/office/officeart/2016/7/layout/RoundedRectangleTimeline"/>
    <dgm:cxn modelId="{82FC1E36-99F3-4E1F-8BD1-229D77A82EB1}" type="presParOf" srcId="{815EDF7B-AC93-4A61-87AA-CAA5D85C31A8}" destId="{A73181F6-69BB-4A47-8277-4671A45AC8C8}" srcOrd="3" destOrd="0" presId="urn:microsoft.com/office/officeart/2016/7/layout/RoundedRectangleTimeline"/>
    <dgm:cxn modelId="{7EAD7967-836C-4AB6-AAA2-ED2EF3F29E78}" type="presParOf" srcId="{815EDF7B-AC93-4A61-87AA-CAA5D85C31A8}" destId="{6E76EADA-5F61-4A59-B2F8-FA10112079FC}" srcOrd="4" destOrd="0" presId="urn:microsoft.com/office/officeart/2016/7/layout/RoundedRectangleTimeline"/>
    <dgm:cxn modelId="{3783DE09-7B3D-423E-960C-ED9DB81E314E}" type="presParOf" srcId="{AB52B3CC-6563-466D-BFC3-9B6B5AFA0881}" destId="{A8189248-0785-43F1-844C-4DE92841F254}" srcOrd="1" destOrd="0" presId="urn:microsoft.com/office/officeart/2016/7/layout/RoundedRectangleTimeline"/>
    <dgm:cxn modelId="{38B07C9C-D21D-4E2B-A78B-C30877B2689A}" type="presParOf" srcId="{AB52B3CC-6563-466D-BFC3-9B6B5AFA0881}" destId="{218D9CD7-D48D-464C-9A1C-0F322EC540B3}" srcOrd="2" destOrd="0" presId="urn:microsoft.com/office/officeart/2016/7/layout/RoundedRectangleTimeline"/>
    <dgm:cxn modelId="{E6790483-7B9E-44FB-9EAE-A282A4B9AB73}" type="presParOf" srcId="{218D9CD7-D48D-464C-9A1C-0F322EC540B3}" destId="{30804A27-188E-4A17-8FFE-97BCCA0597B8}" srcOrd="0" destOrd="0" presId="urn:microsoft.com/office/officeart/2016/7/layout/RoundedRectangleTimeline"/>
    <dgm:cxn modelId="{B31BDB48-FB8E-47F4-8F76-B90009D28A96}" type="presParOf" srcId="{218D9CD7-D48D-464C-9A1C-0F322EC540B3}" destId="{DF65791B-462E-4589-B98D-F60587330CA8}" srcOrd="1" destOrd="0" presId="urn:microsoft.com/office/officeart/2016/7/layout/RoundedRectangleTimeline"/>
    <dgm:cxn modelId="{517AE913-68B2-41AC-BE20-5D4195845D6F}" type="presParOf" srcId="{218D9CD7-D48D-464C-9A1C-0F322EC540B3}" destId="{DBA410EB-5F61-4F46-92D9-C5B0AA59EE15}" srcOrd="2" destOrd="0" presId="urn:microsoft.com/office/officeart/2016/7/layout/RoundedRectangleTimeline"/>
    <dgm:cxn modelId="{0F089045-7542-47F1-8B17-68354869406A}" type="presParOf" srcId="{218D9CD7-D48D-464C-9A1C-0F322EC540B3}" destId="{E1220EDB-B75C-43A5-B862-97E4C09130A7}" srcOrd="3" destOrd="0" presId="urn:microsoft.com/office/officeart/2016/7/layout/RoundedRectangleTimeline"/>
    <dgm:cxn modelId="{79B44ECC-99D2-49DD-9DEE-58B1D2AE6C6C}" type="presParOf" srcId="{218D9CD7-D48D-464C-9A1C-0F322EC540B3}" destId="{D8849157-215F-4E70-9735-315E97B5AC5C}" srcOrd="4" destOrd="0" presId="urn:microsoft.com/office/officeart/2016/7/layout/RoundedRectangleTimeline"/>
    <dgm:cxn modelId="{6930EC12-FB60-44F8-973F-19AC06AA90BB}" type="presParOf" srcId="{AB52B3CC-6563-466D-BFC3-9B6B5AFA0881}" destId="{7C467054-22FE-4C18-9934-29D7168DFF63}" srcOrd="3" destOrd="0" presId="urn:microsoft.com/office/officeart/2016/7/layout/RoundedRectangleTimeline"/>
    <dgm:cxn modelId="{1F4A4777-E935-453F-A5B9-015C6946FC6A}" type="presParOf" srcId="{AB52B3CC-6563-466D-BFC3-9B6B5AFA0881}" destId="{3E3E944D-A6EC-4962-9AC1-C585A4F97BDA}" srcOrd="4" destOrd="0" presId="urn:microsoft.com/office/officeart/2016/7/layout/RoundedRectangleTimeline"/>
    <dgm:cxn modelId="{94AC8B5D-A9B9-4EF3-AD1C-6024606B5BF8}" type="presParOf" srcId="{3E3E944D-A6EC-4962-9AC1-C585A4F97BDA}" destId="{566B79CB-1A41-4F5C-BF91-58D94BF93913}" srcOrd="0" destOrd="0" presId="urn:microsoft.com/office/officeart/2016/7/layout/RoundedRectangleTimeline"/>
    <dgm:cxn modelId="{A151554E-10B3-429A-9E0D-D40262ED6857}" type="presParOf" srcId="{3E3E944D-A6EC-4962-9AC1-C585A4F97BDA}" destId="{B4723E2A-4FF1-452A-BD25-8EC364F15A6F}" srcOrd="1" destOrd="0" presId="urn:microsoft.com/office/officeart/2016/7/layout/RoundedRectangleTimeline"/>
    <dgm:cxn modelId="{329635D9-081F-4DC9-88AA-E074B7400415}" type="presParOf" srcId="{3E3E944D-A6EC-4962-9AC1-C585A4F97BDA}" destId="{440E9361-37D2-4157-AF38-7B49AD23708B}" srcOrd="2" destOrd="0" presId="urn:microsoft.com/office/officeart/2016/7/layout/RoundedRectangleTimeline"/>
    <dgm:cxn modelId="{0F0D3AEA-9F0C-400E-A955-6CD1F474B6A4}" type="presParOf" srcId="{3E3E944D-A6EC-4962-9AC1-C585A4F97BDA}" destId="{C45E7B63-1C71-483E-A3A8-705CE86D4D8E}" srcOrd="3" destOrd="0" presId="urn:microsoft.com/office/officeart/2016/7/layout/RoundedRectangleTimeline"/>
    <dgm:cxn modelId="{91F0BE33-39D4-4457-A5CC-3F1682DB166D}" type="presParOf" srcId="{3E3E944D-A6EC-4962-9AC1-C585A4F97BDA}" destId="{4174F691-D9D3-451C-9893-D177DC3AED58}" srcOrd="4" destOrd="0" presId="urn:microsoft.com/office/officeart/2016/7/layout/RoundedRectangleTimeline"/>
    <dgm:cxn modelId="{C22A5DD6-F2C2-4E43-A35B-3C844BD189E5}" type="presParOf" srcId="{AB52B3CC-6563-466D-BFC3-9B6B5AFA0881}" destId="{B17F8343-C161-4432-A7C2-A0AFB672D3CF}" srcOrd="5" destOrd="0" presId="urn:microsoft.com/office/officeart/2016/7/layout/RoundedRectangleTimeline"/>
    <dgm:cxn modelId="{FA8B6C77-604F-41F2-8813-8A2E41A7BDED}" type="presParOf" srcId="{AB52B3CC-6563-466D-BFC3-9B6B5AFA0881}" destId="{FEE7AEA6-1CB7-4602-8D9F-04BFF2A641C4}" srcOrd="6" destOrd="0" presId="urn:microsoft.com/office/officeart/2016/7/layout/RoundedRectangleTimeline"/>
    <dgm:cxn modelId="{0A19DC9A-665C-42AD-B4B5-5470B27F28DC}" type="presParOf" srcId="{FEE7AEA6-1CB7-4602-8D9F-04BFF2A641C4}" destId="{BB6BE233-1616-4B22-9141-5A6E20DE5FA9}" srcOrd="0" destOrd="0" presId="urn:microsoft.com/office/officeart/2016/7/layout/RoundedRectangleTimeline"/>
    <dgm:cxn modelId="{D7C1B33B-B18C-4028-BDEC-C9AFC00258D6}" type="presParOf" srcId="{FEE7AEA6-1CB7-4602-8D9F-04BFF2A641C4}" destId="{12694253-3D4A-4011-8E9B-8211229E3763}" srcOrd="1" destOrd="0" presId="urn:microsoft.com/office/officeart/2016/7/layout/RoundedRectangleTimeline"/>
    <dgm:cxn modelId="{0B972B0B-7BA3-448B-BC28-909E08A732F3}" type="presParOf" srcId="{FEE7AEA6-1CB7-4602-8D9F-04BFF2A641C4}" destId="{7F745821-A7AE-4F56-AE76-390966DE427D}" srcOrd="2" destOrd="0" presId="urn:microsoft.com/office/officeart/2016/7/layout/RoundedRectangleTimeline"/>
    <dgm:cxn modelId="{13A7D1E1-158C-44A8-AB46-9ED2ED3A31F8}" type="presParOf" srcId="{FEE7AEA6-1CB7-4602-8D9F-04BFF2A641C4}" destId="{0FC343E2-D734-42BC-AC8E-E395FB198AFF}" srcOrd="3" destOrd="0" presId="urn:microsoft.com/office/officeart/2016/7/layout/RoundedRectangleTimeline"/>
    <dgm:cxn modelId="{618E2550-FE37-4A52-84E2-4753F0844C59}" type="presParOf" srcId="{FEE7AEA6-1CB7-4602-8D9F-04BFF2A641C4}" destId="{47EEAB99-F7BE-49AD-8F4F-CA126F3FCD2B}"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4381E7-0584-46DD-8108-E9BF4F2B5005}">
      <dsp:nvSpPr>
        <dsp:cNvPr id="0" name=""/>
        <dsp:cNvSpPr/>
      </dsp:nvSpPr>
      <dsp:spPr>
        <a:xfrm rot="16200000">
          <a:off x="1790021" y="635805"/>
          <a:ext cx="363378" cy="2362175"/>
        </a:xfrm>
        <a:prstGeom prst="round2SameRect">
          <a:avLst/>
        </a:prstGeom>
        <a:solidFill>
          <a:schemeClr val="accent1">
            <a:shade val="80000"/>
            <a:hueOff val="0"/>
            <a:satOff val="0"/>
            <a:lumOff val="0"/>
            <a:alphaOff val="0"/>
          </a:schemeClr>
        </a:solidFill>
        <a:ln w="22225"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0" anchor="ctr" anchorCtr="1">
          <a:noAutofit/>
        </a:bodyPr>
        <a:lstStyle/>
        <a:p>
          <a:pPr marL="0" lvl="0" indent="0" algn="ctr" defTabSz="488950" rtl="0">
            <a:lnSpc>
              <a:spcPct val="90000"/>
            </a:lnSpc>
            <a:spcBef>
              <a:spcPct val="0"/>
            </a:spcBef>
            <a:spcAft>
              <a:spcPct val="35000"/>
            </a:spcAft>
            <a:buNone/>
          </a:pPr>
          <a:r>
            <a:rPr lang="fr" sz="1100" kern="1200" dirty="0"/>
            <a:t>1. DATA</a:t>
          </a:r>
        </a:p>
      </dsp:txBody>
      <dsp:txXfrm rot="5400000">
        <a:off x="808362" y="1652943"/>
        <a:ext cx="2344436" cy="327900"/>
      </dsp:txXfrm>
    </dsp:sp>
    <dsp:sp modelId="{5A1B764B-0DC5-47CD-BDEA-9E67799496EC}">
      <dsp:nvSpPr>
        <dsp:cNvPr id="0" name=""/>
        <dsp:cNvSpPr/>
      </dsp:nvSpPr>
      <dsp:spPr>
        <a:xfrm>
          <a:off x="3231" y="0"/>
          <a:ext cx="3936959"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rtlCol="0" anchor="b" anchorCtr="1">
          <a:noAutofit/>
        </a:bodyPr>
        <a:lstStyle/>
        <a:p>
          <a:pPr marL="0" lvl="0" indent="0" algn="ctr" defTabSz="488950" rtl="0">
            <a:lnSpc>
              <a:spcPct val="90000"/>
            </a:lnSpc>
            <a:spcBef>
              <a:spcPct val="0"/>
            </a:spcBef>
            <a:spcAft>
              <a:spcPct val="35000"/>
            </a:spcAft>
            <a:buNone/>
          </a:pPr>
          <a:r>
            <a:rPr lang="fr" sz="1100" kern="1200" dirty="0"/>
            <a:t>Analyse: Merise Data Modeling &amp; RGPD</a:t>
          </a:r>
        </a:p>
        <a:p>
          <a:pPr marL="0" lvl="0" indent="0" algn="ctr" defTabSz="488950" rtl="0">
            <a:lnSpc>
              <a:spcPct val="90000"/>
            </a:lnSpc>
            <a:spcBef>
              <a:spcPct val="0"/>
            </a:spcBef>
            <a:spcAft>
              <a:spcPct val="35000"/>
            </a:spcAft>
            <a:buNone/>
          </a:pPr>
          <a:r>
            <a:rPr lang="fr" sz="1100" kern="1200" dirty="0"/>
            <a:t>Choix architecture + technologies</a:t>
          </a:r>
        </a:p>
      </dsp:txBody>
      <dsp:txXfrm>
        <a:off x="3231" y="0"/>
        <a:ext cx="3936959" cy="1271825"/>
      </dsp:txXfrm>
    </dsp:sp>
    <dsp:sp modelId="{122B38A3-0442-4747-820C-1F37877E2B0E}">
      <dsp:nvSpPr>
        <dsp:cNvPr id="0" name=""/>
        <dsp:cNvSpPr/>
      </dsp:nvSpPr>
      <dsp:spPr>
        <a:xfrm>
          <a:off x="1971711" y="1344501"/>
          <a:ext cx="0" cy="290702"/>
        </a:xfrm>
        <a:prstGeom prst="line">
          <a:avLst/>
        </a:prstGeom>
        <a:noFill/>
        <a:ln w="12700" cap="rnd" cmpd="sng" algn="ctr">
          <a:solidFill>
            <a:schemeClr val="accent1">
              <a:shade val="90000"/>
              <a:hueOff val="93466"/>
              <a:satOff val="1924"/>
              <a:lumOff val="8231"/>
              <a:alphaOff val="0"/>
            </a:schemeClr>
          </a:solidFill>
          <a:prstDash val="dash"/>
        </a:ln>
        <a:effectLst/>
      </dsp:spPr>
      <dsp:style>
        <a:lnRef idx="1">
          <a:scrgbClr r="0" g="0" b="0"/>
        </a:lnRef>
        <a:fillRef idx="0">
          <a:scrgbClr r="0" g="0" b="0"/>
        </a:fillRef>
        <a:effectRef idx="0">
          <a:scrgbClr r="0" g="0" b="0"/>
        </a:effectRef>
        <a:fontRef idx="minor"/>
      </dsp:style>
    </dsp:sp>
    <dsp:sp modelId="{A73181F6-69BB-4A47-8277-4671A45AC8C8}">
      <dsp:nvSpPr>
        <dsp:cNvPr id="0" name=""/>
        <dsp:cNvSpPr/>
      </dsp:nvSpPr>
      <dsp:spPr>
        <a:xfrm>
          <a:off x="1935373" y="1271825"/>
          <a:ext cx="72675" cy="72675"/>
        </a:xfrm>
        <a:prstGeom prst="ellipse">
          <a:avLst/>
        </a:prstGeom>
        <a:solidFill>
          <a:schemeClr val="accent1">
            <a:shade val="80000"/>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804A27-188E-4A17-8FFE-97BCCA0597B8}">
      <dsp:nvSpPr>
        <dsp:cNvPr id="0" name=""/>
        <dsp:cNvSpPr/>
      </dsp:nvSpPr>
      <dsp:spPr>
        <a:xfrm>
          <a:off x="3152799" y="1635204"/>
          <a:ext cx="2362175" cy="363378"/>
        </a:xfrm>
        <a:prstGeom prst="rect">
          <a:avLst/>
        </a:prstGeom>
        <a:solidFill>
          <a:schemeClr val="accent1">
            <a:shade val="80000"/>
            <a:hueOff val="148730"/>
            <a:satOff val="-3019"/>
            <a:lumOff val="10226"/>
            <a:alphaOff val="0"/>
          </a:schemeClr>
        </a:solidFill>
        <a:ln w="22225" cap="rnd" cmpd="sng" algn="ctr">
          <a:solidFill>
            <a:schemeClr val="accent1">
              <a:shade val="80000"/>
              <a:hueOff val="148730"/>
              <a:satOff val="-3019"/>
              <a:lumOff val="1022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0" anchor="ctr" anchorCtr="1">
          <a:noAutofit/>
        </a:bodyPr>
        <a:lstStyle/>
        <a:p>
          <a:pPr marL="0" lvl="0" indent="0" algn="ctr" defTabSz="488950" rtl="0">
            <a:lnSpc>
              <a:spcPct val="90000"/>
            </a:lnSpc>
            <a:spcBef>
              <a:spcPct val="0"/>
            </a:spcBef>
            <a:spcAft>
              <a:spcPct val="35000"/>
            </a:spcAft>
            <a:buNone/>
          </a:pPr>
          <a:r>
            <a:rPr lang="fr" sz="1100" kern="1200" dirty="0"/>
            <a:t>2. Modelisation / Machine learning</a:t>
          </a:r>
        </a:p>
      </dsp:txBody>
      <dsp:txXfrm>
        <a:off x="3152799" y="1635204"/>
        <a:ext cx="2362175" cy="363378"/>
      </dsp:txXfrm>
    </dsp:sp>
    <dsp:sp modelId="{DF65791B-462E-4589-B98D-F60587330CA8}">
      <dsp:nvSpPr>
        <dsp:cNvPr id="0" name=""/>
        <dsp:cNvSpPr/>
      </dsp:nvSpPr>
      <dsp:spPr>
        <a:xfrm>
          <a:off x="2365407" y="2361961"/>
          <a:ext cx="3936959"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83820" rIns="0" bIns="0" numCol="1" spcCol="1270" rtlCol="0" anchor="t" anchorCtr="1">
          <a:noAutofit/>
        </a:bodyPr>
        <a:lstStyle/>
        <a:p>
          <a:pPr marL="0" lvl="0" indent="0" algn="l" defTabSz="488950" rtl="0">
            <a:lnSpc>
              <a:spcPct val="90000"/>
            </a:lnSpc>
            <a:spcBef>
              <a:spcPct val="0"/>
            </a:spcBef>
            <a:spcAft>
              <a:spcPct val="35000"/>
            </a:spcAft>
            <a:buNone/>
          </a:pPr>
          <a:r>
            <a:rPr lang="fr" sz="1100" kern="1200" dirty="0"/>
            <a:t>RUN 1</a:t>
          </a:r>
        </a:p>
        <a:p>
          <a:pPr marL="0" lvl="0" indent="0" algn="l" defTabSz="488950" rtl="0">
            <a:lnSpc>
              <a:spcPct val="90000"/>
            </a:lnSpc>
            <a:spcBef>
              <a:spcPct val="0"/>
            </a:spcBef>
            <a:spcAft>
              <a:spcPct val="35000"/>
            </a:spcAft>
            <a:buNone/>
          </a:pPr>
          <a:r>
            <a:rPr lang="fr" sz="1100" kern="1200" dirty="0"/>
            <a:t>Adaptations</a:t>
          </a:r>
        </a:p>
        <a:p>
          <a:pPr marL="0" lvl="0" indent="0" algn="l" defTabSz="488950" rtl="0">
            <a:lnSpc>
              <a:spcPct val="90000"/>
            </a:lnSpc>
            <a:spcBef>
              <a:spcPct val="0"/>
            </a:spcBef>
            <a:spcAft>
              <a:spcPct val="35000"/>
            </a:spcAft>
            <a:buNone/>
          </a:pPr>
          <a:r>
            <a:rPr lang="fr" sz="1100" kern="1200" dirty="0"/>
            <a:t>RUN 2</a:t>
          </a:r>
        </a:p>
        <a:p>
          <a:pPr marL="0" lvl="0" indent="0" algn="l" defTabSz="488950" rtl="0">
            <a:lnSpc>
              <a:spcPct val="90000"/>
            </a:lnSpc>
            <a:spcBef>
              <a:spcPct val="0"/>
            </a:spcBef>
            <a:spcAft>
              <a:spcPct val="35000"/>
            </a:spcAft>
            <a:buNone/>
          </a:pPr>
          <a:r>
            <a:rPr lang="fr" sz="1100" kern="1200" dirty="0"/>
            <a:t>…</a:t>
          </a:r>
        </a:p>
        <a:p>
          <a:pPr marL="0" lvl="0" indent="0" algn="l" defTabSz="488950" rtl="0">
            <a:lnSpc>
              <a:spcPct val="90000"/>
            </a:lnSpc>
            <a:spcBef>
              <a:spcPct val="0"/>
            </a:spcBef>
            <a:spcAft>
              <a:spcPct val="35000"/>
            </a:spcAft>
            <a:buNone/>
          </a:pPr>
          <a:r>
            <a:rPr lang="fr" sz="1100" kern="1200" dirty="0"/>
            <a:t>Analyse et choix final</a:t>
          </a:r>
        </a:p>
      </dsp:txBody>
      <dsp:txXfrm>
        <a:off x="2365407" y="2361961"/>
        <a:ext cx="3936959" cy="1271825"/>
      </dsp:txXfrm>
    </dsp:sp>
    <dsp:sp modelId="{DBA410EB-5F61-4F46-92D9-C5B0AA59EE15}">
      <dsp:nvSpPr>
        <dsp:cNvPr id="0" name=""/>
        <dsp:cNvSpPr/>
      </dsp:nvSpPr>
      <dsp:spPr>
        <a:xfrm>
          <a:off x="4333887" y="1998582"/>
          <a:ext cx="0" cy="290702"/>
        </a:xfrm>
        <a:prstGeom prst="line">
          <a:avLst/>
        </a:prstGeom>
        <a:noFill/>
        <a:ln w="12700" cap="rnd" cmpd="sng" algn="ctr">
          <a:solidFill>
            <a:schemeClr val="accent1">
              <a:shade val="90000"/>
              <a:hueOff val="140199"/>
              <a:satOff val="2886"/>
              <a:lumOff val="12346"/>
              <a:alphaOff val="0"/>
            </a:schemeClr>
          </a:solidFill>
          <a:prstDash val="dash"/>
        </a:ln>
        <a:effectLst/>
      </dsp:spPr>
      <dsp:style>
        <a:lnRef idx="1">
          <a:scrgbClr r="0" g="0" b="0"/>
        </a:lnRef>
        <a:fillRef idx="0">
          <a:scrgbClr r="0" g="0" b="0"/>
        </a:fillRef>
        <a:effectRef idx="0">
          <a:scrgbClr r="0" g="0" b="0"/>
        </a:effectRef>
        <a:fontRef idx="minor"/>
      </dsp:style>
    </dsp:sp>
    <dsp:sp modelId="{E1220EDB-B75C-43A5-B862-97E4C09130A7}">
      <dsp:nvSpPr>
        <dsp:cNvPr id="0" name=""/>
        <dsp:cNvSpPr/>
      </dsp:nvSpPr>
      <dsp:spPr>
        <a:xfrm>
          <a:off x="4297549" y="2289285"/>
          <a:ext cx="72675" cy="72675"/>
        </a:xfrm>
        <a:prstGeom prst="ellipse">
          <a:avLst/>
        </a:prstGeom>
        <a:solidFill>
          <a:schemeClr val="accent1">
            <a:shade val="80000"/>
            <a:hueOff val="148730"/>
            <a:satOff val="-3019"/>
            <a:lumOff val="10226"/>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66B79CB-1A41-4F5C-BF91-58D94BF93913}">
      <dsp:nvSpPr>
        <dsp:cNvPr id="0" name=""/>
        <dsp:cNvSpPr/>
      </dsp:nvSpPr>
      <dsp:spPr>
        <a:xfrm>
          <a:off x="5514975" y="1635204"/>
          <a:ext cx="2362175" cy="363378"/>
        </a:xfrm>
        <a:prstGeom prst="rect">
          <a:avLst/>
        </a:prstGeom>
        <a:solidFill>
          <a:schemeClr val="accent1">
            <a:shade val="80000"/>
            <a:hueOff val="297461"/>
            <a:satOff val="-6039"/>
            <a:lumOff val="20451"/>
            <a:alphaOff val="0"/>
          </a:schemeClr>
        </a:solidFill>
        <a:ln w="22225" cap="rnd" cmpd="sng" algn="ctr">
          <a:solidFill>
            <a:schemeClr val="accent1">
              <a:shade val="80000"/>
              <a:hueOff val="297461"/>
              <a:satOff val="-6039"/>
              <a:lumOff val="2045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0" anchor="ctr" anchorCtr="1">
          <a:noAutofit/>
        </a:bodyPr>
        <a:lstStyle/>
        <a:p>
          <a:pPr marL="0" lvl="0" indent="0" algn="ctr" defTabSz="488950" rtl="0">
            <a:lnSpc>
              <a:spcPct val="90000"/>
            </a:lnSpc>
            <a:spcBef>
              <a:spcPct val="0"/>
            </a:spcBef>
            <a:spcAft>
              <a:spcPct val="35000"/>
            </a:spcAft>
            <a:buNone/>
          </a:pPr>
          <a:r>
            <a:rPr lang="fr" sz="1100" kern="1200" dirty="0"/>
            <a:t>3. Application finale</a:t>
          </a:r>
        </a:p>
      </dsp:txBody>
      <dsp:txXfrm>
        <a:off x="5514975" y="1635204"/>
        <a:ext cx="2362175" cy="363378"/>
      </dsp:txXfrm>
    </dsp:sp>
    <dsp:sp modelId="{B4723E2A-4FF1-452A-BD25-8EC364F15A6F}">
      <dsp:nvSpPr>
        <dsp:cNvPr id="0" name=""/>
        <dsp:cNvSpPr/>
      </dsp:nvSpPr>
      <dsp:spPr>
        <a:xfrm>
          <a:off x="4727583" y="0"/>
          <a:ext cx="3936959" cy="1271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83820" numCol="1" spcCol="1270" rtlCol="0" anchor="b" anchorCtr="1">
          <a:noAutofit/>
        </a:bodyPr>
        <a:lstStyle/>
        <a:p>
          <a:pPr marL="0" lvl="0" indent="0" algn="ctr" defTabSz="488950" rtl="0">
            <a:lnSpc>
              <a:spcPct val="90000"/>
            </a:lnSpc>
            <a:spcBef>
              <a:spcPct val="0"/>
            </a:spcBef>
            <a:spcAft>
              <a:spcPct val="35000"/>
            </a:spcAft>
            <a:buNone/>
          </a:pPr>
          <a:r>
            <a:rPr lang="fr" sz="1100" kern="1200" dirty="0"/>
            <a:t>Lorem ipsum dolor sit amet</a:t>
          </a:r>
        </a:p>
      </dsp:txBody>
      <dsp:txXfrm>
        <a:off x="4727583" y="0"/>
        <a:ext cx="3936959" cy="1271825"/>
      </dsp:txXfrm>
    </dsp:sp>
    <dsp:sp modelId="{440E9361-37D2-4157-AF38-7B49AD23708B}">
      <dsp:nvSpPr>
        <dsp:cNvPr id="0" name=""/>
        <dsp:cNvSpPr/>
      </dsp:nvSpPr>
      <dsp:spPr>
        <a:xfrm>
          <a:off x="6696062" y="1344501"/>
          <a:ext cx="0" cy="290702"/>
        </a:xfrm>
        <a:prstGeom prst="line">
          <a:avLst/>
        </a:prstGeom>
        <a:noFill/>
        <a:ln w="12700" cap="rnd" cmpd="sng" algn="ctr">
          <a:solidFill>
            <a:schemeClr val="accent1">
              <a:shade val="90000"/>
              <a:hueOff val="186931"/>
              <a:satOff val="3848"/>
              <a:lumOff val="16461"/>
              <a:alphaOff val="0"/>
            </a:schemeClr>
          </a:solidFill>
          <a:prstDash val="dash"/>
        </a:ln>
        <a:effectLst/>
      </dsp:spPr>
      <dsp:style>
        <a:lnRef idx="1">
          <a:scrgbClr r="0" g="0" b="0"/>
        </a:lnRef>
        <a:fillRef idx="0">
          <a:scrgbClr r="0" g="0" b="0"/>
        </a:fillRef>
        <a:effectRef idx="0">
          <a:scrgbClr r="0" g="0" b="0"/>
        </a:effectRef>
        <a:fontRef idx="minor"/>
      </dsp:style>
    </dsp:sp>
    <dsp:sp modelId="{C45E7B63-1C71-483E-A3A8-705CE86D4D8E}">
      <dsp:nvSpPr>
        <dsp:cNvPr id="0" name=""/>
        <dsp:cNvSpPr/>
      </dsp:nvSpPr>
      <dsp:spPr>
        <a:xfrm>
          <a:off x="6659725" y="1271825"/>
          <a:ext cx="72675" cy="72675"/>
        </a:xfrm>
        <a:prstGeom prst="ellipse">
          <a:avLst/>
        </a:prstGeom>
        <a:solidFill>
          <a:schemeClr val="accent1">
            <a:shade val="80000"/>
            <a:hueOff val="297461"/>
            <a:satOff val="-6039"/>
            <a:lumOff val="2045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6BE233-1616-4B22-9141-5A6E20DE5FA9}">
      <dsp:nvSpPr>
        <dsp:cNvPr id="0" name=""/>
        <dsp:cNvSpPr/>
      </dsp:nvSpPr>
      <dsp:spPr>
        <a:xfrm rot="5400000">
          <a:off x="8876549" y="635805"/>
          <a:ext cx="363378" cy="2362175"/>
        </a:xfrm>
        <a:prstGeom prst="round2SameRect">
          <a:avLst/>
        </a:prstGeom>
        <a:solidFill>
          <a:schemeClr val="accent1">
            <a:shade val="80000"/>
            <a:hueOff val="446191"/>
            <a:satOff val="-9058"/>
            <a:lumOff val="30677"/>
            <a:alphaOff val="0"/>
          </a:schemeClr>
        </a:solidFill>
        <a:ln w="22225" cap="rnd" cmpd="sng" algn="ctr">
          <a:solidFill>
            <a:schemeClr val="accent1">
              <a:shade val="80000"/>
              <a:hueOff val="446191"/>
              <a:satOff val="-9058"/>
              <a:lumOff val="306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0" anchor="ctr" anchorCtr="1">
          <a:noAutofit/>
        </a:bodyPr>
        <a:lstStyle/>
        <a:p>
          <a:pPr marL="0" lvl="0" indent="0" algn="ctr" defTabSz="488950" rtl="0">
            <a:lnSpc>
              <a:spcPct val="90000"/>
            </a:lnSpc>
            <a:spcBef>
              <a:spcPct val="0"/>
            </a:spcBef>
            <a:spcAft>
              <a:spcPct val="35000"/>
            </a:spcAft>
            <a:buNone/>
          </a:pPr>
          <a:r>
            <a:rPr lang="fr" sz="1100" kern="1200" dirty="0"/>
            <a:t>4. Analyse post RUN</a:t>
          </a:r>
        </a:p>
      </dsp:txBody>
      <dsp:txXfrm rot="-5400000">
        <a:off x="7877151" y="1652943"/>
        <a:ext cx="2344436" cy="327900"/>
      </dsp:txXfrm>
    </dsp:sp>
    <dsp:sp modelId="{12694253-3D4A-4011-8E9B-8211229E3763}">
      <dsp:nvSpPr>
        <dsp:cNvPr id="0" name=""/>
        <dsp:cNvSpPr/>
      </dsp:nvSpPr>
      <dsp:spPr>
        <a:xfrm>
          <a:off x="7089758" y="2361961"/>
          <a:ext cx="3936959" cy="1271825"/>
        </a:xfrm>
        <a:prstGeom prst="rect">
          <a:avLst/>
        </a:prstGeom>
        <a:noFill/>
        <a:ln>
          <a:noFill/>
        </a:ln>
        <a:effectLst/>
      </dsp:spPr>
      <dsp:style>
        <a:lnRef idx="0">
          <a:scrgbClr r="0" g="0" b="0"/>
        </a:lnRef>
        <a:fillRef idx="0">
          <a:scrgbClr r="0" g="0" b="0"/>
        </a:fillRef>
        <a:effectRef idx="0">
          <a:scrgbClr r="0" g="0" b="0"/>
        </a:effectRef>
        <a:fontRef idx="minor"/>
      </dsp:style>
    </dsp:sp>
    <dsp:sp modelId="{7F745821-A7AE-4F56-AE76-390966DE427D}">
      <dsp:nvSpPr>
        <dsp:cNvPr id="0" name=""/>
        <dsp:cNvSpPr/>
      </dsp:nvSpPr>
      <dsp:spPr>
        <a:xfrm>
          <a:off x="9058238" y="1998582"/>
          <a:ext cx="0" cy="290702"/>
        </a:xfrm>
        <a:prstGeom prst="line">
          <a:avLst/>
        </a:prstGeom>
        <a:noFill/>
        <a:ln w="12700" cap="rnd" cmpd="sng" algn="ctr">
          <a:solidFill>
            <a:schemeClr val="accent1">
              <a:shade val="90000"/>
              <a:hueOff val="446212"/>
              <a:satOff val="-8602"/>
              <a:lumOff val="28124"/>
              <a:alphaOff val="0"/>
            </a:schemeClr>
          </a:solidFill>
          <a:prstDash val="dash"/>
        </a:ln>
        <a:effectLst/>
      </dsp:spPr>
      <dsp:style>
        <a:lnRef idx="1">
          <a:scrgbClr r="0" g="0" b="0"/>
        </a:lnRef>
        <a:fillRef idx="0">
          <a:scrgbClr r="0" g="0" b="0"/>
        </a:fillRef>
        <a:effectRef idx="0">
          <a:scrgbClr r="0" g="0" b="0"/>
        </a:effectRef>
        <a:fontRef idx="minor"/>
      </dsp:style>
    </dsp:sp>
    <dsp:sp modelId="{0FC343E2-D734-42BC-AC8E-E395FB198AFF}">
      <dsp:nvSpPr>
        <dsp:cNvPr id="0" name=""/>
        <dsp:cNvSpPr/>
      </dsp:nvSpPr>
      <dsp:spPr>
        <a:xfrm>
          <a:off x="9021900" y="2289285"/>
          <a:ext cx="72675" cy="72675"/>
        </a:xfrm>
        <a:prstGeom prst="ellipse">
          <a:avLst/>
        </a:prstGeom>
        <a:solidFill>
          <a:schemeClr val="accent1">
            <a:shade val="80000"/>
            <a:hueOff val="446191"/>
            <a:satOff val="-9058"/>
            <a:lumOff val="3067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2FC74BDE-6627-49B6-90F1-0334E723F64C}" type="datetime1">
              <a:rPr lang="fr-FR" smtClean="0"/>
              <a:t>29/06/2026</a:t>
            </a:fld>
            <a:endParaRPr lang="en-US" dirty="0"/>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975D426-A9DD-4244-A2CE-1FB6623742C7}" type="slidenum">
              <a:rPr lang="en-US" smtClean="0"/>
              <a:t>‹N°›</a:t>
            </a:fld>
            <a:endParaRPr lang="en-US"/>
          </a:p>
        </p:txBody>
      </p:sp>
    </p:spTree>
    <p:extLst>
      <p:ext uri="{BB962C8B-B14F-4D97-AF65-F5344CB8AC3E}">
        <p14:creationId xmlns:p14="http://schemas.microsoft.com/office/powerpoint/2010/main" val="8824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F28DAF60-E56A-4648-8936-22D801672B6C}" type="datetime1">
              <a:rPr lang="fr-FR" smtClean="0"/>
              <a:t>29/06/2026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
              <a:t>Modifiez les styles du texte du masque</a:t>
            </a:r>
            <a:endParaRPr lang="en-US"/>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1B41D33-19C8-4450-B3C5-BE83E9C8F0BC}" type="slidenum">
              <a:rPr lang="en-US" smtClean="0"/>
              <a:t>‹N°›</a:t>
            </a:fld>
            <a:endParaRPr lang="en-US"/>
          </a:p>
        </p:txBody>
      </p:sp>
    </p:spTree>
    <p:extLst>
      <p:ext uri="{BB962C8B-B14F-4D97-AF65-F5344CB8AC3E}">
        <p14:creationId xmlns:p14="http://schemas.microsoft.com/office/powerpoint/2010/main" val="357145525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nSpc>
                <a:spcPct val="115000"/>
              </a:lnSpc>
              <a:spcAft>
                <a:spcPts val="800"/>
              </a:spcAf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Données hybrides :</a:t>
            </a:r>
          </a:p>
          <a:p>
            <a:pPr marL="742950" lvl="1" indent="-285750">
              <a:lnSpc>
                <a:spcPct val="115000"/>
              </a:lnSpc>
              <a:buFont typeface="Courier New" panose="02070309020205020404" pitchFamily="49" charset="0"/>
              <a:buChar char="o"/>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La vectorisation est essentielle pour rendre le texte compréhensible aux machines.</a:t>
            </a:r>
          </a:p>
          <a:p>
            <a:pPr marL="742950" lvl="1" indent="-285750">
              <a:lnSpc>
                <a:spcPct val="115000"/>
              </a:lnSpc>
              <a:buFont typeface="Courier New" panose="02070309020205020404" pitchFamily="49" charset="0"/>
              <a:buChar char="o"/>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Les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embeddings</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capturent les similarités sémantiques entre les textes « sentences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embedding</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 adapte le mot à son contexte permet de saisir la nuance de sens d’1 mot selon la phrase ( BERT /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CamemBERT</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/Sentence-BERT/</a:t>
            </a:r>
            <a:r>
              <a:rPr lang="fr-FR" sz="1050" kern="0" dirty="0">
                <a:effectLst/>
                <a:latin typeface="Segoe UI" panose="020B0502040204020203" pitchFamily="34" charset="0"/>
                <a:ea typeface="Times New Roman" panose="02020603050405020304" pitchFamily="18" charset="0"/>
                <a:cs typeface="Times New Roman" panose="02020603050405020304" pitchFamily="18" charset="0"/>
              </a:rPr>
              <a:t> </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camembert (FR) /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medical-bert</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BioBERT</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ClinicalBERT</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DrBert</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buFont typeface="Courier New" panose="02070309020205020404" pitchFamily="49" charset="0"/>
              <a:buChar char="o"/>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 ou API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Mistral.embedding</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(payant call/API et RGPD)</a:t>
            </a:r>
          </a:p>
          <a:p>
            <a:pPr marL="742950" lvl="1" indent="-285750">
              <a:lnSpc>
                <a:spcPct val="115000"/>
              </a:lnSpc>
              <a:spcAft>
                <a:spcPts val="800"/>
              </a:spcAft>
              <a:buFont typeface="Courier New" panose="02070309020205020404" pitchFamily="49" charset="0"/>
              <a:buChar char="o"/>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hugginface</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'all-MiniLM-L6-v2' =&gt;robustesse et facilité de mise en œuvre) </a:t>
            </a:r>
          </a:p>
          <a:p>
            <a:pPr>
              <a:lnSpc>
                <a:spcPct val="115000"/>
              </a:lnSpc>
              <a:spcAft>
                <a:spcPts val="800"/>
              </a:spcAf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SOURCES : «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CamemBERT</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-bio : Un modèle de langue français savoureux et </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meilleur pour la santé » - https://hal.science/hal-04130187v1/document </a:t>
            </a:r>
          </a:p>
          <a:p>
            <a:pPr>
              <a:lnSpc>
                <a:spcPct val="115000"/>
              </a:lnSpc>
              <a:spcAft>
                <a:spcPts val="800"/>
              </a:spcAft>
            </a:pP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fr-FR" dirty="0"/>
          </a:p>
        </p:txBody>
      </p:sp>
      <p:sp>
        <p:nvSpPr>
          <p:cNvPr id="4" name="Espace réservé de la date 3"/>
          <p:cNvSpPr>
            <a:spLocks noGrp="1"/>
          </p:cNvSpPr>
          <p:nvPr>
            <p:ph type="dt" idx="1"/>
          </p:nvPr>
        </p:nvSpPr>
        <p:spPr/>
        <p:txBody>
          <a:bodyPr/>
          <a:lstStyle/>
          <a:p>
            <a:pPr rtl="0"/>
            <a:fld id="{F28DAF60-E56A-4648-8936-22D801672B6C}" type="datetime1">
              <a:rPr lang="fr-FR" smtClean="0"/>
              <a:t>29/06/2026</a:t>
            </a:fld>
            <a:endParaRPr lang="en-US"/>
          </a:p>
        </p:txBody>
      </p:sp>
      <p:sp>
        <p:nvSpPr>
          <p:cNvPr id="5" name="Espace réservé du numéro de diapositive 4"/>
          <p:cNvSpPr>
            <a:spLocks noGrp="1"/>
          </p:cNvSpPr>
          <p:nvPr>
            <p:ph type="sldNum" sz="quarter" idx="5"/>
          </p:nvPr>
        </p:nvSpPr>
        <p:spPr/>
        <p:txBody>
          <a:bodyPr/>
          <a:lstStyle/>
          <a:p>
            <a:pPr rtl="0"/>
            <a:fld id="{01B41D33-19C8-4450-B3C5-BE83E9C8F0BC}" type="slidenum">
              <a:rPr lang="en-US" smtClean="0"/>
              <a:t>4</a:t>
            </a:fld>
            <a:endParaRPr lang="en-US"/>
          </a:p>
        </p:txBody>
      </p:sp>
    </p:spTree>
    <p:extLst>
      <p:ext uri="{BB962C8B-B14F-4D97-AF65-F5344CB8AC3E}">
        <p14:creationId xmlns:p14="http://schemas.microsoft.com/office/powerpoint/2010/main" val="4013916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e la date 3"/>
          <p:cNvSpPr>
            <a:spLocks noGrp="1"/>
          </p:cNvSpPr>
          <p:nvPr>
            <p:ph type="dt" idx="1"/>
          </p:nvPr>
        </p:nvSpPr>
        <p:spPr/>
        <p:txBody>
          <a:bodyPr/>
          <a:lstStyle/>
          <a:p>
            <a:pPr rtl="0"/>
            <a:fld id="{F28DAF60-E56A-4648-8936-22D801672B6C}" type="datetime1">
              <a:rPr lang="fr-FR" smtClean="0"/>
              <a:t>29/06/2026</a:t>
            </a:fld>
            <a:endParaRPr lang="en-US"/>
          </a:p>
        </p:txBody>
      </p:sp>
      <p:sp>
        <p:nvSpPr>
          <p:cNvPr id="5" name="Espace réservé du numéro de diapositive 4"/>
          <p:cNvSpPr>
            <a:spLocks noGrp="1"/>
          </p:cNvSpPr>
          <p:nvPr>
            <p:ph type="sldNum" sz="quarter" idx="5"/>
          </p:nvPr>
        </p:nvSpPr>
        <p:spPr/>
        <p:txBody>
          <a:bodyPr/>
          <a:lstStyle/>
          <a:p>
            <a:pPr rtl="0"/>
            <a:fld id="{01B41D33-19C8-4450-B3C5-BE83E9C8F0BC}" type="slidenum">
              <a:rPr lang="en-US" smtClean="0"/>
              <a:t>5</a:t>
            </a:fld>
            <a:endParaRPr lang="en-US"/>
          </a:p>
        </p:txBody>
      </p:sp>
    </p:spTree>
    <p:extLst>
      <p:ext uri="{BB962C8B-B14F-4D97-AF65-F5344CB8AC3E}">
        <p14:creationId xmlns:p14="http://schemas.microsoft.com/office/powerpoint/2010/main" val="3183921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kern="1200" dirty="0">
                <a:solidFill>
                  <a:schemeClr val="tx1"/>
                </a:solidFill>
                <a:effectLst/>
                <a:latin typeface="+mn-lt"/>
                <a:ea typeface="+mn-ea"/>
                <a:cs typeface="+mn-cs"/>
              </a:rPr>
              <a:t>RF_IMPORTANCE_20 + </a:t>
            </a:r>
            <a:r>
              <a:rPr lang="fr-FR" sz="1200" kern="1200" dirty="0" err="1">
                <a:solidFill>
                  <a:schemeClr val="tx1"/>
                </a:solidFill>
                <a:effectLst/>
                <a:latin typeface="+mn-lt"/>
                <a:ea typeface="+mn-ea"/>
                <a:cs typeface="+mn-cs"/>
              </a:rPr>
              <a:t>RandomForestClassifier</a:t>
            </a:r>
            <a:r>
              <a:rPr lang="fr-FR" sz="1200" kern="1200" dirty="0">
                <a:solidFill>
                  <a:schemeClr val="tx1"/>
                </a:solidFill>
                <a:effectLst/>
                <a:latin typeface="+mn-lt"/>
                <a:ea typeface="+mn-ea"/>
                <a:cs typeface="+mn-cs"/>
              </a:rPr>
              <a:t> — meilleur compromis performance (f1_macro=0.946) </a:t>
            </a:r>
          </a:p>
          <a:p>
            <a:r>
              <a:rPr lang="fr-FR" sz="1200" kern="1200" dirty="0">
                <a:solidFill>
                  <a:schemeClr val="tx1"/>
                </a:solidFill>
                <a:effectLst/>
                <a:latin typeface="+mn-lt"/>
                <a:ea typeface="+mn-ea"/>
                <a:cs typeface="+mn-cs"/>
              </a:rPr>
              <a:t>et risque métier (</a:t>
            </a:r>
            <a:r>
              <a:rPr lang="fr-FR" sz="1200" kern="1200" dirty="0" err="1">
                <a:solidFill>
                  <a:schemeClr val="tx1"/>
                </a:solidFill>
                <a:effectLst/>
                <a:latin typeface="+mn-lt"/>
                <a:ea typeface="+mn-ea"/>
                <a:cs typeface="+mn-cs"/>
              </a:rPr>
              <a:t>critical_undertriage_rate</a:t>
            </a:r>
            <a:r>
              <a:rPr lang="fr-FR" sz="1200" kern="1200" dirty="0">
                <a:solidFill>
                  <a:schemeClr val="tx1"/>
                </a:solidFill>
                <a:effectLst/>
                <a:latin typeface="+mn-lt"/>
                <a:ea typeface="+mn-ea"/>
                <a:cs typeface="+mn-cs"/>
              </a:rPr>
              <a:t>=6.8%, le plus bas), avec seulement 20 </a:t>
            </a:r>
            <a:r>
              <a:rPr lang="fr-FR" sz="1200" kern="1200" dirty="0" err="1">
                <a:solidFill>
                  <a:schemeClr val="tx1"/>
                </a:solidFill>
                <a:effectLst/>
                <a:latin typeface="+mn-lt"/>
                <a:ea typeface="+mn-ea"/>
                <a:cs typeface="+mn-cs"/>
              </a:rPr>
              <a:t>features</a:t>
            </a:r>
            <a:r>
              <a:rPr lang="fr-FR" sz="1200" kern="1200" dirty="0">
                <a:solidFill>
                  <a:schemeClr val="tx1"/>
                </a:solidFill>
                <a:effectLst/>
                <a:latin typeface="+mn-lt"/>
                <a:ea typeface="+mn-ea"/>
                <a:cs typeface="+mn-cs"/>
              </a:rPr>
              <a:t> (vs ~783 pour ALL_FEATURES) </a:t>
            </a:r>
          </a:p>
          <a:p>
            <a:r>
              <a:rPr lang="fr-FR" sz="1200" kern="1200" dirty="0">
                <a:solidFill>
                  <a:schemeClr val="tx1"/>
                </a:solidFill>
                <a:effectLst/>
                <a:latin typeface="+mn-lt"/>
                <a:ea typeface="+mn-ea"/>
                <a:cs typeface="+mn-cs"/>
              </a:rPr>
              <a:t>→ coût computationnel bien plus faible pour une performance quasi équivalente à </a:t>
            </a:r>
            <a:r>
              <a:rPr lang="fr-FR" sz="1200" kern="1200" dirty="0" err="1">
                <a:solidFill>
                  <a:schemeClr val="tx1"/>
                </a:solidFill>
                <a:effectLst/>
                <a:latin typeface="+mn-lt"/>
                <a:ea typeface="+mn-ea"/>
                <a:cs typeface="+mn-cs"/>
              </a:rPr>
              <a:t>LightGBM</a:t>
            </a:r>
            <a:r>
              <a:rPr lang="fr-FR" sz="1200" kern="1200" dirty="0">
                <a:solidFill>
                  <a:schemeClr val="tx1"/>
                </a:solidFill>
                <a:effectLst/>
                <a:latin typeface="+mn-lt"/>
                <a:ea typeface="+mn-ea"/>
                <a:cs typeface="+mn-cs"/>
              </a:rPr>
              <a:t> sur toutes les </a:t>
            </a:r>
            <a:r>
              <a:rPr lang="fr-FR" sz="1200" kern="1200" dirty="0" err="1">
                <a:solidFill>
                  <a:schemeClr val="tx1"/>
                </a:solidFill>
                <a:effectLst/>
                <a:latin typeface="+mn-lt"/>
                <a:ea typeface="+mn-ea"/>
                <a:cs typeface="+mn-cs"/>
              </a:rPr>
              <a:t>features</a:t>
            </a:r>
            <a:r>
              <a:rPr lang="fr-FR" sz="1200" kern="1200" dirty="0">
                <a:solidFill>
                  <a:schemeClr val="tx1"/>
                </a:solidFill>
                <a:effectLst/>
                <a:latin typeface="+mn-lt"/>
                <a:ea typeface="+mn-ea"/>
                <a:cs typeface="+mn-cs"/>
              </a:rPr>
              <a:t>.</a:t>
            </a:r>
            <a:endParaRPr lang="fr-FR" dirty="0"/>
          </a:p>
        </p:txBody>
      </p:sp>
      <p:sp>
        <p:nvSpPr>
          <p:cNvPr id="4" name="Espace réservé de la date 3"/>
          <p:cNvSpPr>
            <a:spLocks noGrp="1"/>
          </p:cNvSpPr>
          <p:nvPr>
            <p:ph type="dt" idx="1"/>
          </p:nvPr>
        </p:nvSpPr>
        <p:spPr/>
        <p:txBody>
          <a:bodyPr/>
          <a:lstStyle/>
          <a:p>
            <a:pPr rtl="0"/>
            <a:fld id="{F28DAF60-E56A-4648-8936-22D801672B6C}" type="datetime1">
              <a:rPr lang="fr-FR" smtClean="0"/>
              <a:t>29/06/2026</a:t>
            </a:fld>
            <a:endParaRPr lang="en-US"/>
          </a:p>
        </p:txBody>
      </p:sp>
      <p:sp>
        <p:nvSpPr>
          <p:cNvPr id="5" name="Espace réservé du numéro de diapositive 4"/>
          <p:cNvSpPr>
            <a:spLocks noGrp="1"/>
          </p:cNvSpPr>
          <p:nvPr>
            <p:ph type="sldNum" sz="quarter" idx="5"/>
          </p:nvPr>
        </p:nvSpPr>
        <p:spPr/>
        <p:txBody>
          <a:bodyPr/>
          <a:lstStyle/>
          <a:p>
            <a:pPr rtl="0"/>
            <a:fld id="{01B41D33-19C8-4450-B3C5-BE83E9C8F0BC}" type="slidenum">
              <a:rPr lang="en-US" smtClean="0"/>
              <a:t>6</a:t>
            </a:fld>
            <a:endParaRPr lang="en-US"/>
          </a:p>
        </p:txBody>
      </p:sp>
    </p:spTree>
    <p:extLst>
      <p:ext uri="{BB962C8B-B14F-4D97-AF65-F5344CB8AC3E}">
        <p14:creationId xmlns:p14="http://schemas.microsoft.com/office/powerpoint/2010/main" val="3379201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e la date 3"/>
          <p:cNvSpPr>
            <a:spLocks noGrp="1"/>
          </p:cNvSpPr>
          <p:nvPr>
            <p:ph type="dt" idx="1"/>
          </p:nvPr>
        </p:nvSpPr>
        <p:spPr/>
        <p:txBody>
          <a:bodyPr/>
          <a:lstStyle/>
          <a:p>
            <a:pPr rtl="0"/>
            <a:fld id="{F28DAF60-E56A-4648-8936-22D801672B6C}" type="datetime1">
              <a:rPr lang="fr-FR" smtClean="0"/>
              <a:t>29/06/2026</a:t>
            </a:fld>
            <a:endParaRPr lang="en-US"/>
          </a:p>
        </p:txBody>
      </p:sp>
      <p:sp>
        <p:nvSpPr>
          <p:cNvPr id="5" name="Espace réservé du numéro de diapositive 4"/>
          <p:cNvSpPr>
            <a:spLocks noGrp="1"/>
          </p:cNvSpPr>
          <p:nvPr>
            <p:ph type="sldNum" sz="quarter" idx="5"/>
          </p:nvPr>
        </p:nvSpPr>
        <p:spPr/>
        <p:txBody>
          <a:bodyPr/>
          <a:lstStyle/>
          <a:p>
            <a:pPr rtl="0"/>
            <a:fld id="{01B41D33-19C8-4450-B3C5-BE83E9C8F0BC}" type="slidenum">
              <a:rPr lang="en-US" smtClean="0"/>
              <a:t>7</a:t>
            </a:fld>
            <a:endParaRPr lang="en-US"/>
          </a:p>
        </p:txBody>
      </p:sp>
    </p:spTree>
    <p:extLst>
      <p:ext uri="{BB962C8B-B14F-4D97-AF65-F5344CB8AC3E}">
        <p14:creationId xmlns:p14="http://schemas.microsoft.com/office/powerpoint/2010/main" val="1386957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F1_macro</a:t>
            </a:r>
            <a:r>
              <a:rPr lang="fr-FR" dirty="0"/>
              <a:t>, c'est une façon d'agréger le F1-score quand tu as plusieurs classes (3 ou plus), en traitant chaque classe avec la même importance, peu importe combien d'exemples elle contient.</a:t>
            </a:r>
          </a:p>
          <a:p>
            <a:r>
              <a:rPr lang="fr-FR" dirty="0"/>
              <a:t>Le F1-score d'une classe est la moyenne harmonique de la précision et du rappel pour cette classe </a:t>
            </a:r>
          </a:p>
          <a:p>
            <a:r>
              <a:rPr lang="fr-FR" dirty="0"/>
              <a:t>F1-Macro=</a:t>
            </a:r>
            <a:r>
              <a:rPr lang="fr-FR" baseline="0" dirty="0"/>
              <a:t> </a:t>
            </a:r>
            <a:r>
              <a:rPr lang="fr-FR" dirty="0"/>
              <a:t> moyenne arithmétique non pondérée des F1-scores de chaque classe. Chaque classe pèse 1/n, qu'elle contienne 800 exemples ou 50</a:t>
            </a:r>
            <a:r>
              <a:rPr lang="fr-FR" baseline="0" dirty="0"/>
              <a:t> =&gt;important sur données déséquilibrées</a:t>
            </a:r>
          </a:p>
          <a:p>
            <a:endParaRPr lang="fr-FR" dirty="0"/>
          </a:p>
        </p:txBody>
      </p:sp>
      <p:sp>
        <p:nvSpPr>
          <p:cNvPr id="4" name="Espace réservé de la date 3"/>
          <p:cNvSpPr>
            <a:spLocks noGrp="1"/>
          </p:cNvSpPr>
          <p:nvPr>
            <p:ph type="dt" idx="1"/>
          </p:nvPr>
        </p:nvSpPr>
        <p:spPr/>
        <p:txBody>
          <a:bodyPr/>
          <a:lstStyle/>
          <a:p>
            <a:pPr rtl="0"/>
            <a:fld id="{F28DAF60-E56A-4648-8936-22D801672B6C}" type="datetime1">
              <a:rPr lang="fr-FR" smtClean="0"/>
              <a:t>29/06/2026</a:t>
            </a:fld>
            <a:endParaRPr lang="en-US"/>
          </a:p>
        </p:txBody>
      </p:sp>
      <p:sp>
        <p:nvSpPr>
          <p:cNvPr id="5" name="Espace réservé du numéro de diapositive 4"/>
          <p:cNvSpPr>
            <a:spLocks noGrp="1"/>
          </p:cNvSpPr>
          <p:nvPr>
            <p:ph type="sldNum" sz="quarter" idx="5"/>
          </p:nvPr>
        </p:nvSpPr>
        <p:spPr/>
        <p:txBody>
          <a:bodyPr/>
          <a:lstStyle/>
          <a:p>
            <a:pPr rtl="0"/>
            <a:fld id="{01B41D33-19C8-4450-B3C5-BE83E9C8F0BC}" type="slidenum">
              <a:rPr lang="en-US" smtClean="0"/>
              <a:t>8</a:t>
            </a:fld>
            <a:endParaRPr lang="en-US"/>
          </a:p>
        </p:txBody>
      </p:sp>
    </p:spTree>
    <p:extLst>
      <p:ext uri="{BB962C8B-B14F-4D97-AF65-F5344CB8AC3E}">
        <p14:creationId xmlns:p14="http://schemas.microsoft.com/office/powerpoint/2010/main" val="3241549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e la date 3"/>
          <p:cNvSpPr>
            <a:spLocks noGrp="1"/>
          </p:cNvSpPr>
          <p:nvPr>
            <p:ph type="dt" idx="1"/>
          </p:nvPr>
        </p:nvSpPr>
        <p:spPr/>
        <p:txBody>
          <a:bodyPr/>
          <a:lstStyle/>
          <a:p>
            <a:pPr rtl="0"/>
            <a:fld id="{F28DAF60-E56A-4648-8936-22D801672B6C}" type="datetime1">
              <a:rPr lang="fr-FR" smtClean="0"/>
              <a:t>30/06/2026</a:t>
            </a:fld>
            <a:endParaRPr lang="en-US"/>
          </a:p>
        </p:txBody>
      </p:sp>
      <p:sp>
        <p:nvSpPr>
          <p:cNvPr id="5" name="Espace réservé du numéro de diapositive 4"/>
          <p:cNvSpPr>
            <a:spLocks noGrp="1"/>
          </p:cNvSpPr>
          <p:nvPr>
            <p:ph type="sldNum" sz="quarter" idx="5"/>
          </p:nvPr>
        </p:nvSpPr>
        <p:spPr/>
        <p:txBody>
          <a:bodyPr/>
          <a:lstStyle/>
          <a:p>
            <a:pPr rtl="0"/>
            <a:fld id="{01B41D33-19C8-4450-B3C5-BE83E9C8F0BC}" type="slidenum">
              <a:rPr lang="en-US" smtClean="0"/>
              <a:t>10</a:t>
            </a:fld>
            <a:endParaRPr lang="en-US"/>
          </a:p>
        </p:txBody>
      </p:sp>
    </p:spTree>
    <p:extLst>
      <p:ext uri="{BB962C8B-B14F-4D97-AF65-F5344CB8AC3E}">
        <p14:creationId xmlns:p14="http://schemas.microsoft.com/office/powerpoint/2010/main" val="3125148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e la date 3"/>
          <p:cNvSpPr>
            <a:spLocks noGrp="1"/>
          </p:cNvSpPr>
          <p:nvPr>
            <p:ph type="dt" idx="1"/>
          </p:nvPr>
        </p:nvSpPr>
        <p:spPr/>
        <p:txBody>
          <a:bodyPr/>
          <a:lstStyle/>
          <a:p>
            <a:pPr rtl="0"/>
            <a:fld id="{F28DAF60-E56A-4648-8936-22D801672B6C}" type="datetime1">
              <a:rPr lang="fr-FR" smtClean="0"/>
              <a:t>30/06/2026</a:t>
            </a:fld>
            <a:endParaRPr lang="en-US"/>
          </a:p>
        </p:txBody>
      </p:sp>
      <p:sp>
        <p:nvSpPr>
          <p:cNvPr id="5" name="Espace réservé du numéro de diapositive 4"/>
          <p:cNvSpPr>
            <a:spLocks noGrp="1"/>
          </p:cNvSpPr>
          <p:nvPr>
            <p:ph type="sldNum" sz="quarter" idx="5"/>
          </p:nvPr>
        </p:nvSpPr>
        <p:spPr/>
        <p:txBody>
          <a:bodyPr/>
          <a:lstStyle/>
          <a:p>
            <a:pPr rtl="0"/>
            <a:fld id="{01B41D33-19C8-4450-B3C5-BE83E9C8F0BC}" type="slidenum">
              <a:rPr lang="en-US" smtClean="0"/>
              <a:t>11</a:t>
            </a:fld>
            <a:endParaRPr lang="en-US"/>
          </a:p>
        </p:txBody>
      </p:sp>
    </p:spTree>
    <p:extLst>
      <p:ext uri="{BB962C8B-B14F-4D97-AF65-F5344CB8AC3E}">
        <p14:creationId xmlns:p14="http://schemas.microsoft.com/office/powerpoint/2010/main" val="224072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fr-FR"/>
              <a:t>Modifiez le style du titre</a:t>
            </a:r>
            <a:endParaRPr lang="en-US" dirty="0"/>
          </a:p>
        </p:txBody>
      </p:sp>
      <p:sp>
        <p:nvSpPr>
          <p:cNvPr id="3" name="Sous-titr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fr-FR"/>
              <a:t>Modifiez le style des sous-titres du masque</a:t>
            </a:r>
            <a:endParaRPr lang="en-US" dirty="0"/>
          </a:p>
        </p:txBody>
      </p:sp>
      <p:sp>
        <p:nvSpPr>
          <p:cNvPr id="8" name="Espace réservé de la date 7">
            <a:extLst>
              <a:ext uri="{FF2B5EF4-FFF2-40B4-BE49-F238E27FC236}">
                <a16:creationId xmlns:a16="http://schemas.microsoft.com/office/drawing/2014/main" id="{7FA0ACE7-29A8-47D3-A7D9-257B711D8023}"/>
              </a:ext>
            </a:extLst>
          </p:cNvPr>
          <p:cNvSpPr>
            <a:spLocks noGrp="1"/>
          </p:cNvSpPr>
          <p:nvPr>
            <p:ph type="dt" sz="half" idx="10"/>
          </p:nvPr>
        </p:nvSpPr>
        <p:spPr/>
        <p:txBody>
          <a:bodyPr rtlCol="0"/>
          <a:lstStyle/>
          <a:p>
            <a:pPr rtl="0"/>
            <a:fld id="{E641DF6C-ECED-4BD8-8025-73323DD5D35C}" type="datetime1">
              <a:rPr lang="fr-FR" smtClean="0"/>
              <a:t>29/06/2026</a:t>
            </a:fld>
            <a:endParaRPr lang="en-US" dirty="0"/>
          </a:p>
        </p:txBody>
      </p:sp>
      <p:sp>
        <p:nvSpPr>
          <p:cNvPr id="9" name="Espace réservé du pied de page 8">
            <a:extLst>
              <a:ext uri="{FF2B5EF4-FFF2-40B4-BE49-F238E27FC236}">
                <a16:creationId xmlns:a16="http://schemas.microsoft.com/office/drawing/2014/main" id="{DEC604B9-52E9-4810-8359-47206518D038}"/>
              </a:ext>
            </a:extLst>
          </p:cNvPr>
          <p:cNvSpPr>
            <a:spLocks noGrp="1"/>
          </p:cNvSpPr>
          <p:nvPr>
            <p:ph type="ftr" sz="quarter" idx="11"/>
          </p:nvPr>
        </p:nvSpPr>
        <p:spPr/>
        <p:txBody>
          <a:bodyPr rtlCol="0"/>
          <a:lstStyle/>
          <a:p>
            <a:pPr rtl="0"/>
            <a:endParaRPr lang="en-US" dirty="0"/>
          </a:p>
        </p:txBody>
      </p:sp>
      <p:sp>
        <p:nvSpPr>
          <p:cNvPr id="10" name="Espace réservé du numéro de diapositive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581192" y="702156"/>
            <a:ext cx="11029616" cy="1188720"/>
          </a:xfrm>
        </p:spPr>
        <p:txBody>
          <a:bodyPr rtlCol="0"/>
          <a:lstStyle/>
          <a:p>
            <a:pPr rtl="0"/>
            <a:r>
              <a:rPr lang="fr-FR"/>
              <a:t>Modifiez le style du titre</a:t>
            </a:r>
            <a:endParaRPr lang="en-US" dirty="0"/>
          </a:p>
        </p:txBody>
      </p:sp>
      <p:sp>
        <p:nvSpPr>
          <p:cNvPr id="3" name="Espace réservé du contenu 2"/>
          <p:cNvSpPr>
            <a:spLocks noGrp="1"/>
          </p:cNvSpPr>
          <p:nvPr>
            <p:ph idx="1"/>
          </p:nvPr>
        </p:nvSpPr>
        <p:spPr>
          <a:xfrm>
            <a:off x="581192" y="2340864"/>
            <a:ext cx="11029615" cy="3634486"/>
          </a:xfrm>
        </p:spPr>
        <p:txBody>
          <a:bodyPr rtlCol="0"/>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8" name="Espace réservé de la date 7">
            <a:extLst>
              <a:ext uri="{FF2B5EF4-FFF2-40B4-BE49-F238E27FC236}">
                <a16:creationId xmlns:a16="http://schemas.microsoft.com/office/drawing/2014/main" id="{770E6237-3456-439F-802D-3BA93FC7E3E5}"/>
              </a:ext>
            </a:extLst>
          </p:cNvPr>
          <p:cNvSpPr>
            <a:spLocks noGrp="1"/>
          </p:cNvSpPr>
          <p:nvPr>
            <p:ph type="dt" sz="half" idx="10"/>
          </p:nvPr>
        </p:nvSpPr>
        <p:spPr/>
        <p:txBody>
          <a:bodyPr rtlCol="0"/>
          <a:lstStyle/>
          <a:p>
            <a:pPr rtl="0"/>
            <a:fld id="{22897033-9A55-4DAC-991D-1FF1921C78B7}" type="datetime1">
              <a:rPr lang="fr-FR" smtClean="0"/>
              <a:t>29/06/2026</a:t>
            </a:fld>
            <a:endParaRPr lang="en-US" dirty="0"/>
          </a:p>
        </p:txBody>
      </p:sp>
      <p:sp>
        <p:nvSpPr>
          <p:cNvPr id="9" name="Espace réservé du pied de page 8">
            <a:extLst>
              <a:ext uri="{FF2B5EF4-FFF2-40B4-BE49-F238E27FC236}">
                <a16:creationId xmlns:a16="http://schemas.microsoft.com/office/drawing/2014/main" id="{1356D3B5-6063-4A89-B88F-9D3043916FF8}"/>
              </a:ext>
            </a:extLst>
          </p:cNvPr>
          <p:cNvSpPr>
            <a:spLocks noGrp="1"/>
          </p:cNvSpPr>
          <p:nvPr>
            <p:ph type="ftr" sz="quarter" idx="11"/>
          </p:nvPr>
        </p:nvSpPr>
        <p:spPr/>
        <p:txBody>
          <a:bodyPr rtlCol="0"/>
          <a:lstStyle/>
          <a:p>
            <a:pPr rtl="0"/>
            <a:endParaRPr lang="en-US" dirty="0"/>
          </a:p>
        </p:txBody>
      </p:sp>
      <p:sp>
        <p:nvSpPr>
          <p:cNvPr id="10" name="Espace réservé du numéro de diapositive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581193" y="2393950"/>
            <a:ext cx="11029615" cy="2147467"/>
          </a:xfrm>
        </p:spPr>
        <p:txBody>
          <a:bodyPr rtlCol="0" anchor="b">
            <a:normAutofit/>
          </a:bodyPr>
          <a:lstStyle>
            <a:lvl1pPr algn="l">
              <a:defRPr sz="3600" b="0" cap="all">
                <a:solidFill>
                  <a:schemeClr val="tx1">
                    <a:lumMod val="75000"/>
                    <a:lumOff val="25000"/>
                  </a:schemeClr>
                </a:solidFill>
              </a:defRPr>
            </a:lvl1pPr>
          </a:lstStyle>
          <a:p>
            <a:pPr rtl="0"/>
            <a:r>
              <a:rPr lang="fr-FR"/>
              <a:t>Modifiez le style du titre</a:t>
            </a:r>
            <a:endParaRPr lang="en-US" dirty="0"/>
          </a:p>
        </p:txBody>
      </p:sp>
      <p:sp>
        <p:nvSpPr>
          <p:cNvPr id="3" name="Espace réservé du texte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a:t>Cliquez pour modifier les styles du texte du masque</a:t>
            </a:r>
          </a:p>
        </p:txBody>
      </p:sp>
      <p:sp>
        <p:nvSpPr>
          <p:cNvPr id="7" name="Espace réservé de la date 6">
            <a:extLst>
              <a:ext uri="{FF2B5EF4-FFF2-40B4-BE49-F238E27FC236}">
                <a16:creationId xmlns:a16="http://schemas.microsoft.com/office/drawing/2014/main" id="{61582016-5696-4A93-887F-BBB3B9002FE5}"/>
              </a:ext>
            </a:extLst>
          </p:cNvPr>
          <p:cNvSpPr>
            <a:spLocks noGrp="1"/>
          </p:cNvSpPr>
          <p:nvPr>
            <p:ph type="dt" sz="half" idx="10"/>
          </p:nvPr>
        </p:nvSpPr>
        <p:spPr/>
        <p:txBody>
          <a:bodyPr rtlCol="0"/>
          <a:lstStyle/>
          <a:p>
            <a:pPr rtl="0"/>
            <a:fld id="{A1255F31-5DB3-4925-BA87-822F5B17A2F1}" type="datetime1">
              <a:rPr lang="fr-FR" smtClean="0"/>
              <a:t>29/06/2026</a:t>
            </a:fld>
            <a:endParaRPr lang="en-US" dirty="0"/>
          </a:p>
        </p:txBody>
      </p:sp>
      <p:sp>
        <p:nvSpPr>
          <p:cNvPr id="9" name="Espace réservé du pied de page 8">
            <a:extLst>
              <a:ext uri="{FF2B5EF4-FFF2-40B4-BE49-F238E27FC236}">
                <a16:creationId xmlns:a16="http://schemas.microsoft.com/office/drawing/2014/main" id="{857CFCD5-1192-4E18-8A8F-29E153B44DA4}"/>
              </a:ext>
            </a:extLst>
          </p:cNvPr>
          <p:cNvSpPr>
            <a:spLocks noGrp="1"/>
          </p:cNvSpPr>
          <p:nvPr>
            <p:ph type="ftr" sz="quarter" idx="11"/>
          </p:nvPr>
        </p:nvSpPr>
        <p:spPr/>
        <p:txBody>
          <a:bodyPr rtlCol="0"/>
          <a:lstStyle/>
          <a:p>
            <a:pPr rtl="0"/>
            <a:endParaRPr lang="en-US" dirty="0"/>
          </a:p>
        </p:txBody>
      </p:sp>
      <p:sp>
        <p:nvSpPr>
          <p:cNvPr id="10" name="Espace réservé du numéro de diapositive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581193" y="729658"/>
            <a:ext cx="11029616" cy="988332"/>
          </a:xfrm>
        </p:spPr>
        <p:txBody>
          <a:bodyPr rtlCol="0"/>
          <a:lstStyle/>
          <a:p>
            <a:pPr rtl="0"/>
            <a:r>
              <a:rPr lang="fr-FR"/>
              <a:t>Modifiez le style du titre</a:t>
            </a:r>
            <a:endParaRPr lang="en-US" dirty="0"/>
          </a:p>
        </p:txBody>
      </p:sp>
      <p:sp>
        <p:nvSpPr>
          <p:cNvPr id="3" name="Espace réservé du contenu 2"/>
          <p:cNvSpPr>
            <a:spLocks noGrp="1"/>
          </p:cNvSpPr>
          <p:nvPr>
            <p:ph sz="half" idx="1"/>
          </p:nvPr>
        </p:nvSpPr>
        <p:spPr>
          <a:xfrm>
            <a:off x="581193" y="2228003"/>
            <a:ext cx="5194767" cy="3633047"/>
          </a:xfrm>
        </p:spPr>
        <p:txBody>
          <a:bodyPr rtlCol="0">
            <a:normAutofit/>
          </a:body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4" name="Espace réservé du contenu 3"/>
          <p:cNvSpPr>
            <a:spLocks noGrp="1"/>
          </p:cNvSpPr>
          <p:nvPr>
            <p:ph sz="half" idx="2"/>
          </p:nvPr>
        </p:nvSpPr>
        <p:spPr>
          <a:xfrm>
            <a:off x="6416039" y="2228003"/>
            <a:ext cx="5194769" cy="3633047"/>
          </a:xfrm>
        </p:spPr>
        <p:txBody>
          <a:bodyPr rtlCol="0">
            <a:normAutofit/>
          </a:body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5" name="Espace réservé de la date 4"/>
          <p:cNvSpPr>
            <a:spLocks noGrp="1"/>
          </p:cNvSpPr>
          <p:nvPr>
            <p:ph type="dt" sz="half" idx="10"/>
          </p:nvPr>
        </p:nvSpPr>
        <p:spPr/>
        <p:txBody>
          <a:bodyPr rtlCol="0"/>
          <a:lstStyle/>
          <a:p>
            <a:pPr rtl="0"/>
            <a:fld id="{7E4EF44C-5F50-4A80-A957-57B3338337C0}" type="datetime1">
              <a:rPr lang="fr-FR" smtClean="0"/>
              <a:t>29/06/2026</a:t>
            </a:fld>
            <a:endParaRPr lang="en-US" dirty="0"/>
          </a:p>
        </p:txBody>
      </p:sp>
      <p:sp>
        <p:nvSpPr>
          <p:cNvPr id="6" name="Espace réservé du pied de page 5"/>
          <p:cNvSpPr>
            <a:spLocks noGrp="1"/>
          </p:cNvSpPr>
          <p:nvPr>
            <p:ph type="ftr" sz="quarter" idx="11"/>
          </p:nvPr>
        </p:nvSpPr>
        <p:spPr/>
        <p:txBody>
          <a:bodyPr rtlCol="0"/>
          <a:lstStyle/>
          <a:p>
            <a:pPr rtl="0"/>
            <a:endParaRPr lang="en-US" dirty="0"/>
          </a:p>
        </p:txBody>
      </p:sp>
      <p:sp>
        <p:nvSpPr>
          <p:cNvPr id="7" name="Espace réservé du numéro de diapositive 6"/>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ison">
    <p:spTree>
      <p:nvGrpSpPr>
        <p:cNvPr id="1" name=""/>
        <p:cNvGrpSpPr/>
        <p:nvPr/>
      </p:nvGrpSpPr>
      <p:grpSpPr>
        <a:xfrm>
          <a:off x="0" y="0"/>
          <a:ext cx="0" cy="0"/>
          <a:chOff x="0" y="0"/>
          <a:chExt cx="0" cy="0"/>
        </a:xfrm>
      </p:grpSpPr>
      <p:sp>
        <p:nvSpPr>
          <p:cNvPr id="12" name="Titre 1"/>
          <p:cNvSpPr>
            <a:spLocks noGrp="1"/>
          </p:cNvSpPr>
          <p:nvPr>
            <p:ph type="title"/>
          </p:nvPr>
        </p:nvSpPr>
        <p:spPr>
          <a:xfrm>
            <a:off x="581193" y="729658"/>
            <a:ext cx="11029616" cy="988332"/>
          </a:xfrm>
        </p:spPr>
        <p:txBody>
          <a:bodyPr rtlCol="0"/>
          <a:lstStyle/>
          <a:p>
            <a:pPr rtl="0"/>
            <a:r>
              <a:rPr lang="fr-FR"/>
              <a:t>Modifiez le style du titre</a:t>
            </a:r>
            <a:endParaRPr lang="en-US" dirty="0"/>
          </a:p>
        </p:txBody>
      </p:sp>
      <p:sp>
        <p:nvSpPr>
          <p:cNvPr id="3" name="Espace réservé du texte 2"/>
          <p:cNvSpPr>
            <a:spLocks noGrp="1"/>
          </p:cNvSpPr>
          <p:nvPr>
            <p:ph type="body" idx="1"/>
          </p:nvPr>
        </p:nvSpPr>
        <p:spPr>
          <a:xfrm>
            <a:off x="581191" y="2250891"/>
            <a:ext cx="5194769" cy="557784"/>
          </a:xfrm>
        </p:spPr>
        <p:txBody>
          <a:bodyPr rtlCol="0"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a:t>Cliquez pour modifier les styles du texte du masque</a:t>
            </a:r>
          </a:p>
        </p:txBody>
      </p:sp>
      <p:sp>
        <p:nvSpPr>
          <p:cNvPr id="4" name="Espace réservé du contenu 3"/>
          <p:cNvSpPr>
            <a:spLocks noGrp="1"/>
          </p:cNvSpPr>
          <p:nvPr>
            <p:ph sz="half" idx="2"/>
          </p:nvPr>
        </p:nvSpPr>
        <p:spPr>
          <a:xfrm>
            <a:off x="581194" y="2926052"/>
            <a:ext cx="5194766" cy="2934999"/>
          </a:xfrm>
        </p:spPr>
        <p:txBody>
          <a:bodyPr rtlCol="0" anchor="t">
            <a:normAutofit/>
          </a:body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5" name="Espace réservé du texte 4"/>
          <p:cNvSpPr>
            <a:spLocks noGrp="1"/>
          </p:cNvSpPr>
          <p:nvPr>
            <p:ph type="body" sz="quarter" idx="3"/>
          </p:nvPr>
        </p:nvSpPr>
        <p:spPr>
          <a:xfrm>
            <a:off x="6416039" y="2250892"/>
            <a:ext cx="5194770" cy="553373"/>
          </a:xfrm>
        </p:spPr>
        <p:txBody>
          <a:bodyPr rtlCol="0"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fr-FR"/>
              <a:t>Cliquez pour modifier les styles du texte du masque</a:t>
            </a:r>
          </a:p>
        </p:txBody>
      </p:sp>
      <p:sp>
        <p:nvSpPr>
          <p:cNvPr id="6" name="Espace réservé du contenu 5"/>
          <p:cNvSpPr>
            <a:spLocks noGrp="1"/>
          </p:cNvSpPr>
          <p:nvPr>
            <p:ph sz="quarter" idx="4"/>
          </p:nvPr>
        </p:nvSpPr>
        <p:spPr>
          <a:xfrm>
            <a:off x="6416037" y="2926052"/>
            <a:ext cx="5194771" cy="2934999"/>
          </a:xfrm>
        </p:spPr>
        <p:txBody>
          <a:bodyPr rtlCol="0" anchor="t">
            <a:normAutofit/>
          </a:body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7" name="Espace réservé de la date 6"/>
          <p:cNvSpPr>
            <a:spLocks noGrp="1"/>
          </p:cNvSpPr>
          <p:nvPr>
            <p:ph type="dt" sz="half" idx="10"/>
          </p:nvPr>
        </p:nvSpPr>
        <p:spPr/>
        <p:txBody>
          <a:bodyPr rtlCol="0"/>
          <a:lstStyle/>
          <a:p>
            <a:pPr rtl="0"/>
            <a:fld id="{B2D0F46D-59FD-4484-924E-E79DD516B5ED}" type="datetime1">
              <a:rPr lang="fr-FR" smtClean="0"/>
              <a:t>29/06/2026</a:t>
            </a:fld>
            <a:endParaRPr lang="en-US" dirty="0"/>
          </a:p>
        </p:txBody>
      </p:sp>
      <p:sp>
        <p:nvSpPr>
          <p:cNvPr id="8" name="Espace réservé du pied de page 7"/>
          <p:cNvSpPr>
            <a:spLocks noGrp="1"/>
          </p:cNvSpPr>
          <p:nvPr>
            <p:ph type="ftr" sz="quarter" idx="11"/>
          </p:nvPr>
        </p:nvSpPr>
        <p:spPr/>
        <p:txBody>
          <a:bodyPr rtlCol="0"/>
          <a:lstStyle/>
          <a:p>
            <a:pPr rtl="0"/>
            <a:endParaRPr lang="en-US" dirty="0"/>
          </a:p>
        </p:txBody>
      </p:sp>
      <p:sp>
        <p:nvSpPr>
          <p:cNvPr id="9" name="Espace réservé du numéro de diapositive 8"/>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8" name="Titre 1"/>
          <p:cNvSpPr>
            <a:spLocks noGrp="1"/>
          </p:cNvSpPr>
          <p:nvPr>
            <p:ph type="title"/>
          </p:nvPr>
        </p:nvSpPr>
        <p:spPr>
          <a:xfrm>
            <a:off x="575894" y="729658"/>
            <a:ext cx="11029616" cy="988332"/>
          </a:xfrm>
        </p:spPr>
        <p:txBody>
          <a:bodyPr rtlCol="0"/>
          <a:lstStyle/>
          <a:p>
            <a:pPr rtl="0"/>
            <a:r>
              <a:rPr lang="fr-FR"/>
              <a:t>Modifiez le style du titre</a:t>
            </a:r>
            <a:endParaRPr lang="en-US" dirty="0"/>
          </a:p>
        </p:txBody>
      </p:sp>
      <p:sp>
        <p:nvSpPr>
          <p:cNvPr id="3" name="Espace réservé de la date 2"/>
          <p:cNvSpPr>
            <a:spLocks noGrp="1"/>
          </p:cNvSpPr>
          <p:nvPr>
            <p:ph type="dt" sz="half" idx="10"/>
          </p:nvPr>
        </p:nvSpPr>
        <p:spPr/>
        <p:txBody>
          <a:bodyPr rtlCol="0"/>
          <a:lstStyle/>
          <a:p>
            <a:pPr rtl="0"/>
            <a:fld id="{0FAEC910-4AAA-42A1-A49C-7DDC64BC53C6}" type="datetime1">
              <a:rPr lang="fr-FR" smtClean="0"/>
              <a:t>29/06/2026</a:t>
            </a:fld>
            <a:endParaRPr lang="en-US" dirty="0"/>
          </a:p>
        </p:txBody>
      </p:sp>
      <p:sp>
        <p:nvSpPr>
          <p:cNvPr id="4" name="Espace réservé du pied de page 3"/>
          <p:cNvSpPr>
            <a:spLocks noGrp="1"/>
          </p:cNvSpPr>
          <p:nvPr>
            <p:ph type="ftr" sz="quarter" idx="11"/>
          </p:nvPr>
        </p:nvSpPr>
        <p:spPr/>
        <p:txBody>
          <a:bodyPr rtlCol="0"/>
          <a:lstStyle/>
          <a:p>
            <a:pPr rtl="0"/>
            <a:endParaRPr lang="en-US" dirty="0"/>
          </a:p>
        </p:txBody>
      </p:sp>
      <p:sp>
        <p:nvSpPr>
          <p:cNvPr id="5" name="Espace réservé du numéro de diapositive 4"/>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p>
            <a:pPr rtl="0"/>
            <a:fld id="{ACEC98BE-FCE2-445F-8146-3A7F8CC3881D}" type="datetime1">
              <a:rPr lang="fr-FR" smtClean="0"/>
              <a:t>29/06/2026</a:t>
            </a:fld>
            <a:endParaRPr lang="en-US" dirty="0"/>
          </a:p>
        </p:txBody>
      </p:sp>
      <p:sp>
        <p:nvSpPr>
          <p:cNvPr id="3" name="Espace réservé du pied de page 2"/>
          <p:cNvSpPr>
            <a:spLocks noGrp="1"/>
          </p:cNvSpPr>
          <p:nvPr>
            <p:ph type="ftr" sz="quarter" idx="11"/>
          </p:nvPr>
        </p:nvSpPr>
        <p:spPr/>
        <p:txBody>
          <a:bodyPr rtlCol="0"/>
          <a:lstStyle/>
          <a:p>
            <a:pPr rtl="0"/>
            <a:endParaRPr lang="en-US" dirty="0"/>
          </a:p>
        </p:txBody>
      </p:sp>
      <p:sp>
        <p:nvSpPr>
          <p:cNvPr id="4" name="Espace réservé du numéro de diapositive 3"/>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767857" y="933450"/>
            <a:ext cx="3031852" cy="1722419"/>
          </a:xfrm>
        </p:spPr>
        <p:txBody>
          <a:bodyPr rtlCol="0" anchor="b">
            <a:normAutofit/>
          </a:bodyPr>
          <a:lstStyle>
            <a:lvl1pPr algn="l">
              <a:defRPr sz="2400" b="0">
                <a:solidFill>
                  <a:srgbClr val="FFFFFF"/>
                </a:solidFill>
              </a:defRPr>
            </a:lvl1pPr>
          </a:lstStyle>
          <a:p>
            <a:pPr rtl="0"/>
            <a:r>
              <a:rPr lang="fr-FR"/>
              <a:t>Modifiez le style du titre</a:t>
            </a:r>
            <a:endParaRPr lang="en-US" dirty="0"/>
          </a:p>
        </p:txBody>
      </p:sp>
      <p:sp>
        <p:nvSpPr>
          <p:cNvPr id="3" name="Espace réservé du contenu 2"/>
          <p:cNvSpPr>
            <a:spLocks noGrp="1"/>
          </p:cNvSpPr>
          <p:nvPr>
            <p:ph idx="1"/>
          </p:nvPr>
        </p:nvSpPr>
        <p:spPr>
          <a:xfrm>
            <a:off x="4900928" y="1179829"/>
            <a:ext cx="6650991" cy="4658216"/>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4" name="Espace réservé du texte 3"/>
          <p:cNvSpPr>
            <a:spLocks noGrp="1"/>
          </p:cNvSpPr>
          <p:nvPr>
            <p:ph type="body" sz="half" idx="2"/>
          </p:nvPr>
        </p:nvSpPr>
        <p:spPr>
          <a:xfrm>
            <a:off x="767857" y="2836654"/>
            <a:ext cx="3031852" cy="3001392"/>
          </a:xfrm>
        </p:spPr>
        <p:txBody>
          <a:bodyPr rtlCol="0"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a:t>Cliquez pour modifier les styles du texte du masque</a:t>
            </a:r>
          </a:p>
        </p:txBody>
      </p:sp>
      <p:sp>
        <p:nvSpPr>
          <p:cNvPr id="8" name="Espace réservé de la date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rtlCol="0"/>
          <a:lstStyle/>
          <a:p>
            <a:pPr rtl="0"/>
            <a:fld id="{6D0953DD-A6BD-427D-B7A8-BDE378B2E678}" type="datetime1">
              <a:rPr lang="fr-FR" smtClean="0"/>
              <a:t>29/06/2026</a:t>
            </a:fld>
            <a:endParaRPr lang="en-US" dirty="0"/>
          </a:p>
        </p:txBody>
      </p:sp>
      <p:sp>
        <p:nvSpPr>
          <p:cNvPr id="10" name="Espace réservé du pied de page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rtlCol="0"/>
          <a:lstStyle/>
          <a:p>
            <a:pPr rtl="0"/>
            <a:endParaRPr lang="en-US" dirty="0"/>
          </a:p>
        </p:txBody>
      </p:sp>
      <p:sp>
        <p:nvSpPr>
          <p:cNvPr id="11" name="Espace réservé du numéro de diapositive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rtlCol="0"/>
          <a:lstStyle/>
          <a:p>
            <a:pPr rtl="0"/>
            <a:fld id="{3A98EE3D-8CD1-4C3F-BD1C-C98C9596463C}" type="slidenum">
              <a:rPr lang="en-US" smtClean="0"/>
              <a:pPr/>
              <a:t>‹N°›</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81193" y="4693389"/>
            <a:ext cx="11029616" cy="566738"/>
          </a:xfrm>
        </p:spPr>
        <p:txBody>
          <a:bodyPr rtlCol="0" anchor="b">
            <a:normAutofit/>
          </a:bodyPr>
          <a:lstStyle>
            <a:lvl1pPr algn="l">
              <a:defRPr sz="2400" b="0">
                <a:solidFill>
                  <a:schemeClr val="tx1">
                    <a:lumMod val="75000"/>
                    <a:lumOff val="25000"/>
                  </a:schemeClr>
                </a:solidFill>
              </a:defRPr>
            </a:lvl1pPr>
          </a:lstStyle>
          <a:p>
            <a:pPr rtl="0"/>
            <a:r>
              <a:rPr lang="fr-FR"/>
              <a:t>Modifiez le style du titre</a:t>
            </a:r>
            <a:endParaRPr lang="en-US" dirty="0"/>
          </a:p>
        </p:txBody>
      </p:sp>
      <p:sp>
        <p:nvSpPr>
          <p:cNvPr id="3" name="Espace réservé d’image 2"/>
          <p:cNvSpPr>
            <a:spLocks noGrp="1" noChangeAspect="1"/>
          </p:cNvSpPr>
          <p:nvPr>
            <p:ph type="pic" idx="1"/>
          </p:nvPr>
        </p:nvSpPr>
        <p:spPr>
          <a:xfrm>
            <a:off x="447817" y="641350"/>
            <a:ext cx="11290859" cy="3651249"/>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fr-FR"/>
              <a:t>Cliquez sur l'icône pour ajouter une image</a:t>
            </a:r>
            <a:endParaRPr lang="en-US" dirty="0"/>
          </a:p>
        </p:txBody>
      </p:sp>
      <p:sp>
        <p:nvSpPr>
          <p:cNvPr id="4" name="Espace réservé du texte 3"/>
          <p:cNvSpPr>
            <a:spLocks noGrp="1"/>
          </p:cNvSpPr>
          <p:nvPr>
            <p:ph type="body" sz="half" idx="2"/>
          </p:nvPr>
        </p:nvSpPr>
        <p:spPr>
          <a:xfrm>
            <a:off x="581192" y="5260127"/>
            <a:ext cx="11029617" cy="998148"/>
          </a:xfrm>
        </p:spPr>
        <p:txBody>
          <a:bodyPr rtlCol="0"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a:t>Cliquez pour modifier les styles du texte du masque</a:t>
            </a:r>
          </a:p>
        </p:txBody>
      </p:sp>
      <p:sp>
        <p:nvSpPr>
          <p:cNvPr id="5" name="Espace réservé de la date 4"/>
          <p:cNvSpPr>
            <a:spLocks noGrp="1"/>
          </p:cNvSpPr>
          <p:nvPr>
            <p:ph type="dt" sz="half" idx="10"/>
          </p:nvPr>
        </p:nvSpPr>
        <p:spPr/>
        <p:txBody>
          <a:bodyPr rtlCol="0"/>
          <a:lstStyle/>
          <a:p>
            <a:pPr rtl="0"/>
            <a:fld id="{47E77B56-6788-4F40-A65E-12AFEB3AC095}" type="datetime1">
              <a:rPr lang="fr-FR" smtClean="0"/>
              <a:t>29/06/2026</a:t>
            </a:fld>
            <a:endParaRPr lang="en-US" dirty="0"/>
          </a:p>
        </p:txBody>
      </p:sp>
      <p:sp>
        <p:nvSpPr>
          <p:cNvPr id="6" name="Espace réservé du pied de page 5"/>
          <p:cNvSpPr>
            <a:spLocks noGrp="1"/>
          </p:cNvSpPr>
          <p:nvPr>
            <p:ph type="ftr" sz="quarter" idx="11"/>
          </p:nvPr>
        </p:nvSpPr>
        <p:spPr/>
        <p:txBody>
          <a:bodyPr rtlCol="0"/>
          <a:lstStyle/>
          <a:p>
            <a:pPr algn="l" rtl="0"/>
            <a:endParaRPr lang="en-US" dirty="0"/>
          </a:p>
        </p:txBody>
      </p:sp>
      <p:sp>
        <p:nvSpPr>
          <p:cNvPr id="7" name="Espace réservé du numéro de diapositive 6"/>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9" name="Titre 1"/>
          <p:cNvSpPr>
            <a:spLocks noGrp="1"/>
          </p:cNvSpPr>
          <p:nvPr>
            <p:ph type="title"/>
          </p:nvPr>
        </p:nvSpPr>
        <p:spPr>
          <a:xfrm>
            <a:off x="581192" y="702156"/>
            <a:ext cx="11029616" cy="1013800"/>
          </a:xfrm>
        </p:spPr>
        <p:txBody>
          <a:bodyPr rtlCol="0"/>
          <a:lstStyle/>
          <a:p>
            <a:pPr rtl="0"/>
            <a:r>
              <a:rPr lang="fr-FR"/>
              <a:t>Modifiez le style du titre</a:t>
            </a:r>
            <a:endParaRPr lang="en-US" dirty="0"/>
          </a:p>
        </p:txBody>
      </p:sp>
      <p:sp>
        <p:nvSpPr>
          <p:cNvPr id="3" name="Espace réservé du texte vertical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4" name="Espace réservé de la date 3"/>
          <p:cNvSpPr>
            <a:spLocks noGrp="1"/>
          </p:cNvSpPr>
          <p:nvPr>
            <p:ph type="dt" sz="half" idx="10"/>
          </p:nvPr>
        </p:nvSpPr>
        <p:spPr/>
        <p:txBody>
          <a:bodyPr rtlCol="0"/>
          <a:lstStyle/>
          <a:p>
            <a:pPr rtl="0"/>
            <a:fld id="{1E5B03D9-FC89-4784-BD60-336471BA7724}" type="datetime1">
              <a:rPr lang="fr-FR" smtClean="0"/>
              <a:t>29/06/2026</a:t>
            </a:fld>
            <a:endParaRPr lang="en-US" dirty="0"/>
          </a:p>
        </p:txBody>
      </p:sp>
      <p:sp>
        <p:nvSpPr>
          <p:cNvPr id="5" name="Espace réservé du pied de page 4"/>
          <p:cNvSpPr>
            <a:spLocks noGrp="1"/>
          </p:cNvSpPr>
          <p:nvPr>
            <p:ph type="ftr" sz="quarter" idx="11"/>
          </p:nvPr>
        </p:nvSpPr>
        <p:spPr/>
        <p:txBody>
          <a:bodyPr rtlCol="0"/>
          <a:lstStyle/>
          <a:p>
            <a:pPr rtl="0"/>
            <a:endParaRPr lang="en-US" dirty="0"/>
          </a:p>
        </p:txBody>
      </p:sp>
      <p:sp>
        <p:nvSpPr>
          <p:cNvPr id="6" name="Espace réservé du numéro de diapositive 5"/>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re vertical 1"/>
          <p:cNvSpPr>
            <a:spLocks noGrp="1"/>
          </p:cNvSpPr>
          <p:nvPr>
            <p:ph type="title" orient="vert"/>
          </p:nvPr>
        </p:nvSpPr>
        <p:spPr>
          <a:xfrm>
            <a:off x="8204200" y="863600"/>
            <a:ext cx="3124200" cy="4807326"/>
          </a:xfrm>
        </p:spPr>
        <p:txBody>
          <a:bodyPr vert="eaVert" rtlCol="0" anchor="ctr"/>
          <a:lstStyle>
            <a:lvl1pPr>
              <a:defRPr>
                <a:solidFill>
                  <a:srgbClr val="FFFFFF"/>
                </a:solidFill>
              </a:defRPr>
            </a:lvl1pPr>
          </a:lstStyle>
          <a:p>
            <a:pPr rtl="0"/>
            <a:r>
              <a:rPr lang="fr-FR"/>
              <a:t>Modifiez le style du titre</a:t>
            </a:r>
            <a:endParaRPr lang="en-US" dirty="0"/>
          </a:p>
        </p:txBody>
      </p:sp>
      <p:sp>
        <p:nvSpPr>
          <p:cNvPr id="3" name="Espace réservé du texte vertical 2"/>
          <p:cNvSpPr>
            <a:spLocks noGrp="1"/>
          </p:cNvSpPr>
          <p:nvPr>
            <p:ph type="body" orient="vert" idx="1"/>
          </p:nvPr>
        </p:nvSpPr>
        <p:spPr>
          <a:xfrm>
            <a:off x="774923" y="863600"/>
            <a:ext cx="7161625" cy="4807326"/>
          </a:xfrm>
        </p:spPr>
        <p:txBody>
          <a:bodyPr vert="eaVert" rtlCol="0" anchor="t"/>
          <a:lstStyle/>
          <a:p>
            <a:pPr lvl="0" rtl="0"/>
            <a:r>
              <a:rPr lang="fr-FR"/>
              <a:t>Cliquez pour modifier les styles du texte du masque</a:t>
            </a:r>
          </a:p>
          <a:p>
            <a:pPr lvl="1" rtl="0"/>
            <a:r>
              <a:rPr lang="fr-FR"/>
              <a:t>Deuxième niveau</a:t>
            </a:r>
          </a:p>
          <a:p>
            <a:pPr lvl="2" rtl="0"/>
            <a:r>
              <a:rPr lang="fr-FR"/>
              <a:t>Troisième niveau</a:t>
            </a:r>
          </a:p>
          <a:p>
            <a:pPr lvl="3" rtl="0"/>
            <a:r>
              <a:rPr lang="fr-FR"/>
              <a:t>Quatrième niveau</a:t>
            </a:r>
          </a:p>
          <a:p>
            <a:pPr lvl="4" rtl="0"/>
            <a:r>
              <a:rPr lang="fr-FR"/>
              <a:t>Cinquième niveau</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Espace réservé de la date 10">
            <a:extLst>
              <a:ext uri="{FF2B5EF4-FFF2-40B4-BE49-F238E27FC236}">
                <a16:creationId xmlns:a16="http://schemas.microsoft.com/office/drawing/2014/main" id="{5C74A470-3BD3-4F33-80E5-67E6E87FCBE7}"/>
              </a:ext>
            </a:extLst>
          </p:cNvPr>
          <p:cNvSpPr>
            <a:spLocks noGrp="1"/>
          </p:cNvSpPr>
          <p:nvPr>
            <p:ph type="dt" sz="half" idx="10"/>
          </p:nvPr>
        </p:nvSpPr>
        <p:spPr/>
        <p:txBody>
          <a:bodyPr rtlCol="0"/>
          <a:lstStyle/>
          <a:p>
            <a:pPr rtl="0"/>
            <a:fld id="{D0216CB3-B929-446C-876F-83C9B86D9FDE}" type="datetime1">
              <a:rPr lang="fr-FR" smtClean="0"/>
              <a:t>29/06/2026</a:t>
            </a:fld>
            <a:endParaRPr lang="en-US" dirty="0"/>
          </a:p>
        </p:txBody>
      </p:sp>
      <p:sp>
        <p:nvSpPr>
          <p:cNvPr id="12" name="Espace réservé du pied de page 11">
            <a:extLst>
              <a:ext uri="{FF2B5EF4-FFF2-40B4-BE49-F238E27FC236}">
                <a16:creationId xmlns:a16="http://schemas.microsoft.com/office/drawing/2014/main" id="{9A3A30BA-DB50-4D7D-BCDE-17D20FB354DF}"/>
              </a:ext>
            </a:extLst>
          </p:cNvPr>
          <p:cNvSpPr>
            <a:spLocks noGrp="1"/>
          </p:cNvSpPr>
          <p:nvPr>
            <p:ph type="ftr" sz="quarter" idx="11"/>
          </p:nvPr>
        </p:nvSpPr>
        <p:spPr/>
        <p:txBody>
          <a:bodyPr rtlCol="0"/>
          <a:lstStyle/>
          <a:p>
            <a:pPr rtl="0"/>
            <a:endParaRPr lang="en-US" dirty="0"/>
          </a:p>
        </p:txBody>
      </p:sp>
      <p:sp>
        <p:nvSpPr>
          <p:cNvPr id="13" name="Espace réservé du numéro de diapositive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rtlCol="0"/>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au titre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fr"/>
              <a:t>Modifiez le style du titre</a:t>
            </a:r>
            <a:endParaRPr lang="en-US" dirty="0"/>
          </a:p>
        </p:txBody>
      </p:sp>
      <p:sp>
        <p:nvSpPr>
          <p:cNvPr id="3" name="Espace réservé du texte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fr"/>
              <a:t>Modifiez les styles du texte du masque</a:t>
            </a:r>
          </a:p>
          <a:p>
            <a:pPr lvl="1" rtl="0"/>
            <a:r>
              <a:rPr lang="fr"/>
              <a:t>Deuxième niveau</a:t>
            </a:r>
          </a:p>
          <a:p>
            <a:pPr lvl="2" rtl="0"/>
            <a:r>
              <a:rPr lang="fr"/>
              <a:t>Troisième niveau</a:t>
            </a:r>
          </a:p>
          <a:p>
            <a:pPr lvl="3" rtl="0"/>
            <a:r>
              <a:rPr lang="fr"/>
              <a:t>Quatrième niveau</a:t>
            </a:r>
          </a:p>
          <a:p>
            <a:pPr lvl="4" rtl="0"/>
            <a:r>
              <a:rPr lang="fr"/>
              <a:t>Cinquième niveau</a:t>
            </a:r>
            <a:endParaRPr lang="en-US" dirty="0"/>
          </a:p>
        </p:txBody>
      </p:sp>
      <p:sp>
        <p:nvSpPr>
          <p:cNvPr id="4" name="Espace réservé de la date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E69A0D1A-B1A6-4A33-B3AE-513EF3B4A7E7}" type="datetime1">
              <a:rPr lang="fr-FR" smtClean="0"/>
              <a:t>29/06/2026</a:t>
            </a:fld>
            <a:endParaRPr lang="en-US" dirty="0"/>
          </a:p>
        </p:txBody>
      </p:sp>
      <p:sp>
        <p:nvSpPr>
          <p:cNvPr id="5" name="Espace réservé du pied de page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pPr rtl="0"/>
            <a:endParaRPr lang="en-US" dirty="0"/>
          </a:p>
        </p:txBody>
      </p:sp>
      <p:sp>
        <p:nvSpPr>
          <p:cNvPr id="6" name="Espace réservé du numéro de diapositive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pPr rtl="0"/>
            <a:fld id="{3A98EE3D-8CD1-4C3F-BD1C-C98C9596463C}" type="slidenum">
              <a:rPr lang="en-US" smtClean="0"/>
              <a:t>‹N°›</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hal.science/hal-04130187v1/document"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itr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909969"/>
          </a:xfrm>
        </p:spPr>
        <p:txBody>
          <a:bodyPr rtlCol="0">
            <a:normAutofit/>
          </a:bodyPr>
          <a:lstStyle/>
          <a:p>
            <a:pPr rtl="0"/>
            <a:r>
              <a:rPr lang="fr-FR" sz="2400" cap="all" dirty="0">
                <a:solidFill>
                  <a:srgbClr val="0A1D30"/>
                </a:solidFill>
                <a:effectLst/>
                <a:latin typeface="Aptos" panose="020B0004020202020204" pitchFamily="34" charset="0"/>
                <a:ea typeface="Aptos" panose="020B0004020202020204" pitchFamily="34" charset="0"/>
                <a:cs typeface="Times New Roman" panose="02020603050405020304" pitchFamily="18" charset="0"/>
              </a:rPr>
              <a:t>Machine </a:t>
            </a:r>
            <a:r>
              <a:rPr lang="fr-FR" sz="2400" cap="all" dirty="0" err="1">
                <a:solidFill>
                  <a:srgbClr val="0A1D30"/>
                </a:solidFill>
                <a:effectLst/>
                <a:latin typeface="Aptos" panose="020B0004020202020204" pitchFamily="34" charset="0"/>
                <a:ea typeface="Aptos" panose="020B0004020202020204" pitchFamily="34" charset="0"/>
                <a:cs typeface="Times New Roman" panose="02020603050405020304" pitchFamily="18" charset="0"/>
              </a:rPr>
              <a:t>learning</a:t>
            </a:r>
            <a:r>
              <a:rPr lang="fr-FR" sz="2400" cap="all" dirty="0">
                <a:solidFill>
                  <a:srgbClr val="0A1D30"/>
                </a:solidFill>
                <a:effectLst/>
                <a:latin typeface="Aptos" panose="020B0004020202020204" pitchFamily="34" charset="0"/>
                <a:ea typeface="Aptos" panose="020B0004020202020204" pitchFamily="34" charset="0"/>
                <a:cs typeface="Times New Roman" panose="02020603050405020304" pitchFamily="18" charset="0"/>
              </a:rPr>
              <a:t> :</a:t>
            </a:r>
            <a:br>
              <a:rPr lang="fr-FR" sz="2400" cap="all" dirty="0">
                <a:solidFill>
                  <a:srgbClr val="0A1D30"/>
                </a:solidFill>
                <a:effectLst/>
                <a:latin typeface="Aptos" panose="020B0004020202020204" pitchFamily="34" charset="0"/>
                <a:ea typeface="Aptos" panose="020B0004020202020204" pitchFamily="34" charset="0"/>
                <a:cs typeface="Times New Roman" panose="02020603050405020304" pitchFamily="18" charset="0"/>
              </a:rPr>
            </a:br>
            <a:r>
              <a:rPr lang="fr-FR" sz="2400" cap="all" dirty="0">
                <a:solidFill>
                  <a:srgbClr val="0A1D30"/>
                </a:solidFill>
                <a:effectLst/>
                <a:latin typeface="Aptos" panose="020B0004020202020204" pitchFamily="34" charset="0"/>
                <a:ea typeface="Aptos" panose="020B0004020202020204" pitchFamily="34" charset="0"/>
                <a:cs typeface="Times New Roman" panose="02020603050405020304" pitchFamily="18" charset="0"/>
              </a:rPr>
              <a:t>Diagnostic assisté et tri d'urgence multimodal en télémédecine</a:t>
            </a:r>
            <a:endParaRPr lang="fr" sz="4400" dirty="0"/>
          </a:p>
        </p:txBody>
      </p:sp>
      <p:sp>
        <p:nvSpPr>
          <p:cNvPr id="3" name="Sous-titre 2">
            <a:extLst>
              <a:ext uri="{FF2B5EF4-FFF2-40B4-BE49-F238E27FC236}">
                <a16:creationId xmlns:a16="http://schemas.microsoft.com/office/drawing/2014/main" id="{835D6E6B-3353-491C-A3C6-F278D6CED8B3}"/>
              </a:ext>
            </a:extLst>
          </p:cNvPr>
          <p:cNvSpPr>
            <a:spLocks noGrp="1"/>
          </p:cNvSpPr>
          <p:nvPr>
            <p:ph type="subTitle" idx="1"/>
          </p:nvPr>
        </p:nvSpPr>
        <p:spPr>
          <a:xfrm>
            <a:off x="581191" y="2055734"/>
            <a:ext cx="10993546" cy="1022576"/>
          </a:xfrm>
        </p:spPr>
        <p:txBody>
          <a:bodyPr rtlCol="0">
            <a:normAutofit/>
          </a:bodyPr>
          <a:lstStyle/>
          <a:p>
            <a:pPr rtl="0"/>
            <a:r>
              <a:rPr lang="fr-FR" sz="1200" dirty="0"/>
              <a:t>PROMO UPSKILLING ATLAS CISIA - MARS 26 (SESSION-00301513)</a:t>
            </a:r>
          </a:p>
          <a:p>
            <a:pPr rtl="0"/>
            <a:r>
              <a:rPr lang="fr-FR" sz="1200" dirty="0"/>
              <a:t>Bruno Biscay</a:t>
            </a:r>
            <a:endParaRPr lang="fr" sz="1200"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Image 5" descr="Zoom sur un logo&#10;&#10;Description générée automatiquement">
            <a:extLst>
              <a:ext uri="{FF2B5EF4-FFF2-40B4-BE49-F238E27FC236}">
                <a16:creationId xmlns:a16="http://schemas.microsoft.com/office/drawing/2014/main" id="{F1A8C364-94D4-4630-BAD0-78722F347055}"/>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17C321-CD47-C68E-B6DD-6FAF07D7330C}"/>
              </a:ext>
            </a:extLst>
          </p:cNvPr>
          <p:cNvSpPr>
            <a:spLocks noGrp="1"/>
          </p:cNvSpPr>
          <p:nvPr>
            <p:ph type="title"/>
          </p:nvPr>
        </p:nvSpPr>
        <p:spPr/>
        <p:txBody>
          <a:bodyPr/>
          <a:lstStyle/>
          <a:p>
            <a:r>
              <a:rPr lang="fr-FR" dirty="0"/>
              <a:t>Contexte</a:t>
            </a:r>
          </a:p>
        </p:txBody>
      </p:sp>
      <p:sp>
        <p:nvSpPr>
          <p:cNvPr id="3" name="Espace réservé du contenu 2">
            <a:extLst>
              <a:ext uri="{FF2B5EF4-FFF2-40B4-BE49-F238E27FC236}">
                <a16:creationId xmlns:a16="http://schemas.microsoft.com/office/drawing/2014/main" id="{CB2FB9F8-72E6-D2C7-0867-FB064512D310}"/>
              </a:ext>
            </a:extLst>
          </p:cNvPr>
          <p:cNvSpPr>
            <a:spLocks noGrp="1"/>
          </p:cNvSpPr>
          <p:nvPr>
            <p:ph idx="1"/>
          </p:nvPr>
        </p:nvSpPr>
        <p:spPr>
          <a:xfrm>
            <a:off x="581193" y="2340864"/>
            <a:ext cx="5591008" cy="4358110"/>
          </a:xfrm>
        </p:spPr>
        <p:txBody>
          <a:bodyPr>
            <a:normAutofit/>
          </a:bodyPr>
          <a:lstStyle/>
          <a:p>
            <a:r>
              <a:rPr lang="fr-FR" dirty="0"/>
              <a:t>Personnel: position comme data </a:t>
            </a:r>
            <a:r>
              <a:rPr lang="fr-FR" dirty="0" err="1"/>
              <a:t>scientist</a:t>
            </a:r>
            <a:r>
              <a:rPr lang="fr-FR" dirty="0"/>
              <a:t> au sein d'une équipe projet IA, en charge de la conception et de l'évaluation d'un modèle de classification du niveau d'urgence des patients, en lien avec le personnel soignant des urgences.</a:t>
            </a:r>
          </a:p>
          <a:p>
            <a:r>
              <a:rPr lang="fr-FR" dirty="0"/>
              <a:t>Projet donné: le temps d’attente peut compromettre la prise en charge des cas les plus critiques. </a:t>
            </a:r>
            <a:r>
              <a:rPr lang="fr-FR" dirty="0" err="1"/>
              <a:t>Cete</a:t>
            </a:r>
            <a:r>
              <a:rPr lang="fr-FR" dirty="0"/>
              <a:t> application doit aider au tri actuellement 100% humain (</a:t>
            </a:r>
            <a:r>
              <a:rPr lang="fr-FR" dirty="0" err="1"/>
              <a:t>requiérant</a:t>
            </a:r>
            <a:r>
              <a:rPr lang="fr-FR" dirty="0"/>
              <a:t> ces connaissances, soumis au stress, fatigue), et donc à l’erreur </a:t>
            </a:r>
          </a:p>
          <a:p>
            <a:r>
              <a:rPr lang="fr-FR" dirty="0"/>
              <a:t>Cible: l’application devra servir à différents niveaux d’utilisateurs (accueil, infirmiers, médecins) pour prioriser les prises en charge; le rendu doit être simple et interprétable, sans ralentir le processus</a:t>
            </a:r>
          </a:p>
        </p:txBody>
      </p:sp>
      <p:sp>
        <p:nvSpPr>
          <p:cNvPr id="4" name="Espace réservé de la date 3">
            <a:extLst>
              <a:ext uri="{FF2B5EF4-FFF2-40B4-BE49-F238E27FC236}">
                <a16:creationId xmlns:a16="http://schemas.microsoft.com/office/drawing/2014/main" id="{279C9FBD-AD7F-4649-12C4-C066BE57A369}"/>
              </a:ext>
            </a:extLst>
          </p:cNvPr>
          <p:cNvSpPr>
            <a:spLocks noGrp="1"/>
          </p:cNvSpPr>
          <p:nvPr>
            <p:ph type="dt" sz="half" idx="10"/>
          </p:nvPr>
        </p:nvSpPr>
        <p:spPr/>
        <p:txBody>
          <a:bodyPr/>
          <a:lstStyle/>
          <a:p>
            <a:pPr rtl="0"/>
            <a:fld id="{22897033-9A55-4DAC-991D-1FF1921C78B7}" type="datetime1">
              <a:rPr lang="fr-FR" smtClean="0"/>
              <a:t>29/06/2026</a:t>
            </a:fld>
            <a:endParaRPr lang="en-US" dirty="0"/>
          </a:p>
        </p:txBody>
      </p:sp>
      <p:pic>
        <p:nvPicPr>
          <p:cNvPr id="6" name="Image 5">
            <a:extLst>
              <a:ext uri="{FF2B5EF4-FFF2-40B4-BE49-F238E27FC236}">
                <a16:creationId xmlns:a16="http://schemas.microsoft.com/office/drawing/2014/main" id="{5EAA079B-A3FE-2914-C1AB-1AF8BB2861CC}"/>
              </a:ext>
            </a:extLst>
          </p:cNvPr>
          <p:cNvPicPr>
            <a:picLocks noChangeAspect="1"/>
          </p:cNvPicPr>
          <p:nvPr/>
        </p:nvPicPr>
        <p:blipFill>
          <a:blip r:embed="rId2"/>
          <a:stretch>
            <a:fillRect/>
          </a:stretch>
        </p:blipFill>
        <p:spPr>
          <a:xfrm>
            <a:off x="7300626" y="1296516"/>
            <a:ext cx="3664138" cy="4616687"/>
          </a:xfrm>
          <a:prstGeom prst="rect">
            <a:avLst/>
          </a:prstGeom>
        </p:spPr>
      </p:pic>
    </p:spTree>
    <p:extLst>
      <p:ext uri="{BB962C8B-B14F-4D97-AF65-F5344CB8AC3E}">
        <p14:creationId xmlns:p14="http://schemas.microsoft.com/office/powerpoint/2010/main" val="944096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562972-3449-42D1-8185-B4BEFD52AB44}"/>
              </a:ext>
            </a:extLst>
          </p:cNvPr>
          <p:cNvSpPr>
            <a:spLocks noGrp="1"/>
          </p:cNvSpPr>
          <p:nvPr>
            <p:ph type="title"/>
          </p:nvPr>
        </p:nvSpPr>
        <p:spPr/>
        <p:txBody>
          <a:bodyPr rtlCol="0"/>
          <a:lstStyle/>
          <a:p>
            <a:pPr rtl="0"/>
            <a:r>
              <a:rPr lang="fr" dirty="0"/>
              <a:t>Phases du projet</a:t>
            </a:r>
          </a:p>
        </p:txBody>
      </p:sp>
      <p:graphicFrame>
        <p:nvGraphicFramePr>
          <p:cNvPr id="4" name="Espace réservé du contenu 2">
            <a:extLst>
              <a:ext uri="{FF2B5EF4-FFF2-40B4-BE49-F238E27FC236}">
                <a16:creationId xmlns:a16="http://schemas.microsoft.com/office/drawing/2014/main" id="{FF3F0D82-0AA6-45C3-8367-955CBFA02ED6}"/>
              </a:ext>
            </a:extLst>
          </p:cNvPr>
          <p:cNvGraphicFramePr>
            <a:graphicFrameLocks noGrp="1"/>
          </p:cNvGraphicFramePr>
          <p:nvPr>
            <p:ph idx="1"/>
            <p:extLst>
              <p:ext uri="{D42A27DB-BD31-4B8C-83A1-F6EECF244321}">
                <p14:modId xmlns:p14="http://schemas.microsoft.com/office/powerpoint/2010/main" val="1225431181"/>
              </p:ext>
            </p:extLst>
          </p:nvPr>
        </p:nvGraphicFramePr>
        <p:xfrm>
          <a:off x="581025" y="2341563"/>
          <a:ext cx="11029950" cy="36337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784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AD4D5B6A-0D0B-A419-9E9F-E3F753C6187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987667"/>
            <a:ext cx="12207697" cy="1576036"/>
          </a:xfrm>
          <a:prstGeom prst="rect">
            <a:avLst/>
          </a:prstGeom>
          <a:noFill/>
          <a:ln>
            <a:noFill/>
          </a:ln>
        </p:spPr>
      </p:pic>
      <p:sp>
        <p:nvSpPr>
          <p:cNvPr id="2" name="Titre 1">
            <a:extLst>
              <a:ext uri="{FF2B5EF4-FFF2-40B4-BE49-F238E27FC236}">
                <a16:creationId xmlns:a16="http://schemas.microsoft.com/office/drawing/2014/main" id="{2317C321-CD47-C68E-B6DD-6FAF07D7330C}"/>
              </a:ext>
            </a:extLst>
          </p:cNvPr>
          <p:cNvSpPr>
            <a:spLocks noGrp="1"/>
          </p:cNvSpPr>
          <p:nvPr>
            <p:ph type="title"/>
          </p:nvPr>
        </p:nvSpPr>
        <p:spPr>
          <a:xfrm>
            <a:off x="581192" y="702156"/>
            <a:ext cx="11029616" cy="838139"/>
          </a:xfrm>
        </p:spPr>
        <p:txBody>
          <a:bodyPr/>
          <a:lstStyle/>
          <a:p>
            <a:r>
              <a:rPr lang="fr-FR" dirty="0"/>
              <a:t>1. DATA – a) Analyse</a:t>
            </a:r>
          </a:p>
        </p:txBody>
      </p:sp>
      <p:sp>
        <p:nvSpPr>
          <p:cNvPr id="3" name="Espace réservé du contenu 2">
            <a:extLst>
              <a:ext uri="{FF2B5EF4-FFF2-40B4-BE49-F238E27FC236}">
                <a16:creationId xmlns:a16="http://schemas.microsoft.com/office/drawing/2014/main" id="{CB2FB9F8-72E6-D2C7-0867-FB064512D310}"/>
              </a:ext>
            </a:extLst>
          </p:cNvPr>
          <p:cNvSpPr>
            <a:spLocks noGrp="1"/>
          </p:cNvSpPr>
          <p:nvPr>
            <p:ph idx="1"/>
          </p:nvPr>
        </p:nvSpPr>
        <p:spPr>
          <a:xfrm>
            <a:off x="581192" y="1620858"/>
            <a:ext cx="9965479" cy="4154827"/>
          </a:xfrm>
        </p:spPr>
        <p:txBody>
          <a:bodyPr>
            <a:normAutofit fontScale="77500" lnSpcReduction="20000"/>
          </a:bodyPr>
          <a:lstStyle/>
          <a:p>
            <a:r>
              <a:rPr lang="en-US" dirty="0" err="1"/>
              <a:t>Analyse</a:t>
            </a:r>
            <a:r>
              <a:rPr lang="en-US" dirty="0"/>
              <a:t> </a:t>
            </a:r>
            <a:r>
              <a:rPr lang="en-US" dirty="0" err="1"/>
              <a:t>Merise</a:t>
            </a:r>
            <a:endParaRPr lang="en-US" dirty="0"/>
          </a:p>
          <a:p>
            <a:pPr lvl="1"/>
            <a:r>
              <a:rPr lang="fr-FR" dirty="0"/>
              <a:t>Entités principales :	Entités /  Patient / Observation médicale / Constantes vitales  / Symptômes (texte)  / Décision (niveau urgence)</a:t>
            </a:r>
          </a:p>
          <a:p>
            <a:pPr lvl="1"/>
            <a:endParaRPr lang="en-US" dirty="0"/>
          </a:p>
          <a:p>
            <a:r>
              <a:rPr lang="en-US" dirty="0"/>
              <a:t>RGPD</a:t>
            </a:r>
          </a:p>
          <a:p>
            <a:pPr lvl="1"/>
            <a:r>
              <a:rPr lang="fr-FR" dirty="0"/>
              <a:t>Patient : suppression </a:t>
            </a:r>
            <a:r>
              <a:rPr lang="fr-FR" dirty="0" err="1"/>
              <a:t>zone_vie</a:t>
            </a:r>
            <a:r>
              <a:rPr lang="fr-FR" dirty="0"/>
              <a:t>, remplacement nom/</a:t>
            </a:r>
            <a:r>
              <a:rPr lang="fr-FR" dirty="0" err="1"/>
              <a:t>prenom</a:t>
            </a:r>
            <a:r>
              <a:rPr lang="fr-FR" dirty="0"/>
              <a:t> par id, âge -&gt;tranche d âge</a:t>
            </a:r>
          </a:p>
          <a:p>
            <a:pPr lvl="1"/>
            <a:r>
              <a:rPr lang="fr-FR" dirty="0"/>
              <a:t>Description Symptôme : texte anonymisé automatiquement  car peut contenir des données perso (même si il n’y en a pas dans les données fournies)</a:t>
            </a:r>
          </a:p>
          <a:p>
            <a:pPr lvl="1"/>
            <a:endParaRPr lang="fr-FR" dirty="0"/>
          </a:p>
          <a:p>
            <a:r>
              <a:rPr lang="en-US" dirty="0"/>
              <a:t>Données </a:t>
            </a:r>
            <a:r>
              <a:rPr lang="en-US" dirty="0" err="1"/>
              <a:t>hybride</a:t>
            </a:r>
            <a:endParaRPr lang="en-US" dirty="0"/>
          </a:p>
          <a:p>
            <a:pPr lvl="1"/>
            <a:r>
              <a:rPr lang="fr-FR" dirty="0"/>
              <a:t>Suppression redondances et gestion données manquantes/incohérentes</a:t>
            </a:r>
          </a:p>
          <a:p>
            <a:pPr lvl="1"/>
            <a:r>
              <a:rPr lang="en-US" dirty="0" err="1"/>
              <a:t>Vectorisation</a:t>
            </a:r>
            <a:r>
              <a:rPr lang="en-US" dirty="0"/>
              <a:t> et “sentences embedding” avec “</a:t>
            </a:r>
            <a:r>
              <a:rPr lang="en-US" dirty="0" err="1"/>
              <a:t>CamemBERT</a:t>
            </a:r>
            <a:r>
              <a:rPr lang="en-US" dirty="0"/>
              <a:t>-bio” (run local, </a:t>
            </a:r>
            <a:r>
              <a:rPr lang="en-US" dirty="0" err="1"/>
              <a:t>modèle</a:t>
            </a:r>
            <a:r>
              <a:rPr lang="en-US" dirty="0"/>
              <a:t> Fr) pour les “</a:t>
            </a:r>
            <a:r>
              <a:rPr lang="en-US" dirty="0" err="1"/>
              <a:t>symptômes</a:t>
            </a:r>
            <a:r>
              <a:rPr lang="en-US" dirty="0"/>
              <a:t>” : </a:t>
            </a:r>
            <a:r>
              <a:rPr lang="en-US" dirty="0">
                <a:hlinkClick r:id="rId4"/>
              </a:rPr>
              <a:t>Source</a:t>
            </a:r>
            <a:endParaRPr lang="en-US" dirty="0"/>
          </a:p>
          <a:p>
            <a:pPr lvl="1"/>
            <a:endParaRPr lang="en-US" dirty="0"/>
          </a:p>
          <a:p>
            <a:r>
              <a:rPr lang="en-US" dirty="0" err="1"/>
              <a:t>Modèle</a:t>
            </a:r>
            <a:r>
              <a:rPr lang="en-US" dirty="0"/>
              <a:t> evolutive</a:t>
            </a:r>
          </a:p>
          <a:p>
            <a:pPr lvl="1"/>
            <a:r>
              <a:rPr lang="en-US" dirty="0"/>
              <a:t>On </a:t>
            </a:r>
            <a:r>
              <a:rPr lang="en-US" dirty="0" err="1"/>
              <a:t>peut</a:t>
            </a:r>
            <a:r>
              <a:rPr lang="en-US" dirty="0"/>
              <a:t> </a:t>
            </a:r>
            <a:r>
              <a:rPr lang="en-US" dirty="0" err="1"/>
              <a:t>ajouter</a:t>
            </a:r>
            <a:r>
              <a:rPr lang="en-US" dirty="0"/>
              <a:t> </a:t>
            </a:r>
            <a:r>
              <a:rPr lang="en-US" dirty="0" err="1"/>
              <a:t>hsitorique</a:t>
            </a:r>
            <a:r>
              <a:rPr lang="en-US" dirty="0"/>
              <a:t> patient</a:t>
            </a:r>
          </a:p>
          <a:p>
            <a:pPr lvl="1"/>
            <a:r>
              <a:rPr lang="en-US" dirty="0"/>
              <a:t>Des données de nouveaux “</a:t>
            </a:r>
            <a:r>
              <a:rPr lang="en-US" dirty="0" err="1"/>
              <a:t>capteurs</a:t>
            </a:r>
            <a:r>
              <a:rPr lang="en-US" dirty="0"/>
              <a:t>”</a:t>
            </a:r>
          </a:p>
          <a:p>
            <a:pPr lvl="1"/>
            <a:r>
              <a:rPr lang="en-US" dirty="0"/>
              <a:t>De nouveaux champs</a:t>
            </a:r>
          </a:p>
        </p:txBody>
      </p:sp>
    </p:spTree>
    <p:extLst>
      <p:ext uri="{BB962C8B-B14F-4D97-AF65-F5344CB8AC3E}">
        <p14:creationId xmlns:p14="http://schemas.microsoft.com/office/powerpoint/2010/main" val="1258361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17C321-CD47-C68E-B6DD-6FAF07D7330C}"/>
              </a:ext>
            </a:extLst>
          </p:cNvPr>
          <p:cNvSpPr>
            <a:spLocks noGrp="1"/>
          </p:cNvSpPr>
          <p:nvPr>
            <p:ph type="title"/>
          </p:nvPr>
        </p:nvSpPr>
        <p:spPr/>
        <p:txBody>
          <a:bodyPr/>
          <a:lstStyle/>
          <a:p>
            <a:r>
              <a:rPr lang="fr-FR" dirty="0"/>
              <a:t>1.DATA – b) Technique</a:t>
            </a:r>
          </a:p>
        </p:txBody>
      </p:sp>
      <p:sp>
        <p:nvSpPr>
          <p:cNvPr id="3" name="Espace réservé du contenu 2">
            <a:extLst>
              <a:ext uri="{FF2B5EF4-FFF2-40B4-BE49-F238E27FC236}">
                <a16:creationId xmlns:a16="http://schemas.microsoft.com/office/drawing/2014/main" id="{CB2FB9F8-72E6-D2C7-0867-FB064512D310}"/>
              </a:ext>
            </a:extLst>
          </p:cNvPr>
          <p:cNvSpPr>
            <a:spLocks noGrp="1"/>
          </p:cNvSpPr>
          <p:nvPr>
            <p:ph idx="1"/>
          </p:nvPr>
        </p:nvSpPr>
        <p:spPr/>
        <p:txBody>
          <a:bodyPr anchor="t">
            <a:normAutofit/>
          </a:bodyPr>
          <a:lstStyle/>
          <a:p>
            <a:r>
              <a:rPr lang="en-US" dirty="0"/>
              <a:t>Choix architecture</a:t>
            </a:r>
          </a:p>
          <a:p>
            <a:pPr lvl="1"/>
            <a:r>
              <a:rPr lang="en-US" dirty="0"/>
              <a:t>Multi-service : DB, Import, données </a:t>
            </a:r>
            <a:r>
              <a:rPr lang="en-US" dirty="0" err="1"/>
              <a:t>servies</a:t>
            </a:r>
            <a:r>
              <a:rPr lang="en-US" dirty="0"/>
              <a:t> </a:t>
            </a:r>
            <a:r>
              <a:rPr lang="en-US" dirty="0" err="1"/>
              <a:t>en</a:t>
            </a:r>
            <a:r>
              <a:rPr lang="en-US" dirty="0"/>
              <a:t> API</a:t>
            </a:r>
          </a:p>
          <a:p>
            <a:pPr lvl="1"/>
            <a:r>
              <a:rPr lang="en-US" dirty="0" err="1"/>
              <a:t>Containerisation</a:t>
            </a:r>
            <a:r>
              <a:rPr lang="en-US" dirty="0"/>
              <a:t>: </a:t>
            </a:r>
            <a:r>
              <a:rPr lang="en-US" dirty="0" err="1"/>
              <a:t>déploiement</a:t>
            </a:r>
            <a:r>
              <a:rPr lang="en-US" dirty="0"/>
              <a:t> multi-OS, simplification, isolation des applications/service</a:t>
            </a:r>
          </a:p>
          <a:p>
            <a:pPr marL="324000" lvl="1" indent="0">
              <a:buNone/>
            </a:pPr>
            <a:endParaRPr lang="en-US" dirty="0"/>
          </a:p>
          <a:p>
            <a:r>
              <a:rPr lang="en-US" dirty="0"/>
              <a:t> Technologies</a:t>
            </a:r>
          </a:p>
        </p:txBody>
      </p:sp>
      <p:pic>
        <p:nvPicPr>
          <p:cNvPr id="6" name="Image 5">
            <a:extLst>
              <a:ext uri="{FF2B5EF4-FFF2-40B4-BE49-F238E27FC236}">
                <a16:creationId xmlns:a16="http://schemas.microsoft.com/office/drawing/2014/main" id="{21FC64BA-622C-05D0-0EF7-0D4947AA9D28}"/>
              </a:ext>
            </a:extLst>
          </p:cNvPr>
          <p:cNvPicPr>
            <a:picLocks noChangeAspect="1"/>
          </p:cNvPicPr>
          <p:nvPr/>
        </p:nvPicPr>
        <p:blipFill>
          <a:blip r:embed="rId3"/>
          <a:stretch>
            <a:fillRect/>
          </a:stretch>
        </p:blipFill>
        <p:spPr>
          <a:xfrm>
            <a:off x="5850686" y="4889492"/>
            <a:ext cx="1448006" cy="1216325"/>
          </a:xfrm>
          <a:prstGeom prst="rect">
            <a:avLst/>
          </a:prstGeom>
        </p:spPr>
      </p:pic>
      <p:pic>
        <p:nvPicPr>
          <p:cNvPr id="1028" name="Picture 4" descr="logo-python - RoboTIC">
            <a:extLst>
              <a:ext uri="{FF2B5EF4-FFF2-40B4-BE49-F238E27FC236}">
                <a16:creationId xmlns:a16="http://schemas.microsoft.com/office/drawing/2014/main" id="{64595A74-5A9F-5DAB-563D-F281BB3583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500" y="4917889"/>
            <a:ext cx="2277373" cy="128102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ogo complet de Hugging Face PNG transparents - StickPNG">
            <a:extLst>
              <a:ext uri="{FF2B5EF4-FFF2-40B4-BE49-F238E27FC236}">
                <a16:creationId xmlns:a16="http://schemas.microsoft.com/office/drawing/2014/main" id="{D96DB4BE-9821-524F-68CC-357EBBC170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4075" y="4761773"/>
            <a:ext cx="2301373" cy="153145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ostgreSQL Logos &amp; Icons – Download PNG, SVG Files">
            <a:extLst>
              <a:ext uri="{FF2B5EF4-FFF2-40B4-BE49-F238E27FC236}">
                <a16:creationId xmlns:a16="http://schemas.microsoft.com/office/drawing/2014/main" id="{5D45BA5A-1886-1025-1069-6137C36B7D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93309" y="4927347"/>
            <a:ext cx="1228497" cy="122849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pisode 13: Sharing Images and Containers (Push-Pull in DockerHub) | by  Amir Mustafa | Medium">
            <a:extLst>
              <a:ext uri="{FF2B5EF4-FFF2-40B4-BE49-F238E27FC236}">
                <a16:creationId xmlns:a16="http://schemas.microsoft.com/office/drawing/2014/main" id="{17D47765-2968-76F2-F7C7-789F6565EAC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61316" y="5056811"/>
            <a:ext cx="2009675" cy="104900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itHub Logo et symbole, sens, histoire, PNG, marque">
            <a:extLst>
              <a:ext uri="{FF2B5EF4-FFF2-40B4-BE49-F238E27FC236}">
                <a16:creationId xmlns:a16="http://schemas.microsoft.com/office/drawing/2014/main" id="{050B086F-67B7-5485-9026-59F4B045DA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48683" y="5090812"/>
            <a:ext cx="1723700" cy="974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3901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17C321-CD47-C68E-B6DD-6FAF07D7330C}"/>
              </a:ext>
            </a:extLst>
          </p:cNvPr>
          <p:cNvSpPr>
            <a:spLocks noGrp="1"/>
          </p:cNvSpPr>
          <p:nvPr>
            <p:ph type="title"/>
          </p:nvPr>
        </p:nvSpPr>
        <p:spPr>
          <a:xfrm>
            <a:off x="581192" y="702156"/>
            <a:ext cx="11029616" cy="722607"/>
          </a:xfrm>
        </p:spPr>
        <p:txBody>
          <a:bodyPr/>
          <a:lstStyle/>
          <a:p>
            <a:r>
              <a:rPr lang="fr-FR" dirty="0"/>
              <a:t>2. Machine LEARNING: RUN 1</a:t>
            </a:r>
          </a:p>
        </p:txBody>
      </p:sp>
      <p:sp>
        <p:nvSpPr>
          <p:cNvPr id="3" name="Espace réservé du contenu 2">
            <a:extLst>
              <a:ext uri="{FF2B5EF4-FFF2-40B4-BE49-F238E27FC236}">
                <a16:creationId xmlns:a16="http://schemas.microsoft.com/office/drawing/2014/main" id="{CB2FB9F8-72E6-D2C7-0867-FB064512D310}"/>
              </a:ext>
            </a:extLst>
          </p:cNvPr>
          <p:cNvSpPr>
            <a:spLocks noGrp="1"/>
          </p:cNvSpPr>
          <p:nvPr>
            <p:ph idx="1"/>
          </p:nvPr>
        </p:nvSpPr>
        <p:spPr>
          <a:xfrm>
            <a:off x="581193" y="1541721"/>
            <a:ext cx="6608880" cy="2731896"/>
          </a:xfrm>
        </p:spPr>
        <p:txBody>
          <a:bodyPr>
            <a:normAutofit/>
          </a:bodyPr>
          <a:lstStyle/>
          <a:p>
            <a:r>
              <a:rPr lang="en-US" dirty="0" err="1"/>
              <a:t>Métriques</a:t>
            </a:r>
            <a:r>
              <a:rPr lang="en-US" dirty="0"/>
              <a:t>:</a:t>
            </a:r>
          </a:p>
          <a:p>
            <a:pPr marL="1143000" lvl="2" indent="-228600" algn="just">
              <a:lnSpc>
                <a:spcPct val="115000"/>
              </a:lnSpc>
              <a:buFont typeface="Aptos" panose="020B0004020202020204" pitchFamily="34" charset="0"/>
              <a:buChar char="•"/>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Classiques: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accuracy</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precision</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macro,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recall</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macro, f1 macro,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roc_auc_ovr</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matrice de confusion, courbes ROC </a:t>
            </a:r>
          </a:p>
          <a:p>
            <a:pPr marL="1143000" lvl="2" indent="-228600" algn="just">
              <a:lnSpc>
                <a:spcPct val="115000"/>
              </a:lnSpc>
              <a:buFont typeface="Aptos" panose="020B0004020202020204" pitchFamily="34" charset="0"/>
              <a:buChar char="•"/>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Contrainte métier critique : le risque majeur = une "urgence vitale" (2) classé "non urgent" (0). </a:t>
            </a:r>
          </a:p>
          <a:p>
            <a:pPr marL="1600200" lvl="3" indent="-228600" algn="just">
              <a:lnSpc>
                <a:spcPct val="115000"/>
              </a:lnSpc>
              <a:buFont typeface="Symbol" panose="05050102010706020507" pitchFamily="18" charset="2"/>
              <a:buChar char=""/>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Métrique custom </a:t>
            </a:r>
            <a:r>
              <a:rPr lang="fr-FR" sz="1200" kern="100" dirty="0" err="1">
                <a:solidFill>
                  <a:srgbClr val="A6A6A6"/>
                </a:solidFill>
                <a:effectLst/>
                <a:latin typeface="Aptos" panose="020B0004020202020204" pitchFamily="34" charset="0"/>
                <a:ea typeface="Aptos" panose="020B0004020202020204" pitchFamily="34" charset="0"/>
                <a:cs typeface="Times New Roman" panose="02020603050405020304" pitchFamily="18" charset="0"/>
              </a:rPr>
              <a:t>critical_miss_rate</a:t>
            </a:r>
            <a:r>
              <a:rPr lang="fr-FR" sz="1200" kern="100" dirty="0">
                <a:solidFill>
                  <a:srgbClr val="A6A6A6"/>
                </a:solidFill>
                <a:effectLst/>
                <a:latin typeface="Aptos" panose="020B0004020202020204" pitchFamily="34" charset="0"/>
                <a:ea typeface="Aptos" panose="020B0004020202020204" pitchFamily="34" charset="0"/>
                <a:cs typeface="Times New Roman" panose="02020603050405020304" pitchFamily="18" charset="0"/>
              </a:rPr>
              <a:t> </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de vrais "2" prédits "0", et "1"→"0")</a:t>
            </a:r>
          </a:p>
          <a:p>
            <a:pPr marL="1600200" lvl="3" indent="-228600" algn="just">
              <a:lnSpc>
                <a:spcPct val="115000"/>
              </a:lnSpc>
              <a:spcAft>
                <a:spcPts val="800"/>
              </a:spcAft>
              <a:buFont typeface="Symbol" panose="05050102010706020507" pitchFamily="18" charset="2"/>
              <a:buChar char=""/>
            </a:pPr>
            <a:r>
              <a:rPr lang="fr-FR" sz="1200" kern="100" dirty="0" err="1">
                <a:solidFill>
                  <a:srgbClr val="A6A6A6"/>
                </a:solidFill>
                <a:effectLst/>
                <a:latin typeface="Aptos" panose="020B0004020202020204" pitchFamily="34" charset="0"/>
                <a:ea typeface="Aptos" panose="020B0004020202020204" pitchFamily="34" charset="0"/>
                <a:cs typeface="Times New Roman" panose="02020603050405020304" pitchFamily="18" charset="0"/>
              </a:rPr>
              <a:t>class_weight</a:t>
            </a:r>
            <a:r>
              <a:rPr lang="fr-FR" sz="1200" kern="100" dirty="0">
                <a:solidFill>
                  <a:srgbClr val="A6A6A6"/>
                </a:solidFill>
                <a:effectLst/>
                <a:latin typeface="Aptos" panose="020B0004020202020204" pitchFamily="34" charset="0"/>
                <a:ea typeface="Aptos" panose="020B0004020202020204" pitchFamily="34" charset="0"/>
                <a:cs typeface="Times New Roman" panose="02020603050405020304" pitchFamily="18" charset="0"/>
              </a:rPr>
              <a:t>="</a:t>
            </a:r>
            <a:r>
              <a:rPr lang="fr-FR" sz="1200" kern="100" dirty="0" err="1">
                <a:solidFill>
                  <a:srgbClr val="A6A6A6"/>
                </a:solidFill>
                <a:effectLst/>
                <a:latin typeface="Aptos" panose="020B0004020202020204" pitchFamily="34" charset="0"/>
                <a:ea typeface="Aptos" panose="020B0004020202020204" pitchFamily="34" charset="0"/>
                <a:cs typeface="Times New Roman" panose="02020603050405020304" pitchFamily="18" charset="0"/>
              </a:rPr>
              <a:t>balanced</a:t>
            </a:r>
            <a:r>
              <a:rPr lang="fr-FR" sz="1200" kern="100" dirty="0">
                <a:solidFill>
                  <a:srgbClr val="A6A6A6"/>
                </a:solidFill>
                <a:effectLst/>
                <a:latin typeface="Aptos" panose="020B0004020202020204" pitchFamily="34" charset="0"/>
                <a:ea typeface="Aptos" panose="020B0004020202020204" pitchFamily="34" charset="0"/>
                <a:cs typeface="Times New Roman" panose="02020603050405020304" pitchFamily="18" charset="0"/>
              </a:rPr>
              <a:t>" </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(ou poids custom favorisant le rappel classe 2 - urgent) plutôt que l'</a:t>
            </a:r>
            <a:r>
              <a:rPr lang="fr-FR" sz="1200" kern="100" dirty="0" err="1">
                <a:solidFill>
                  <a:srgbClr val="A6A6A6"/>
                </a:solidFill>
                <a:effectLst/>
                <a:latin typeface="Aptos" panose="020B0004020202020204" pitchFamily="34" charset="0"/>
                <a:ea typeface="Aptos" panose="020B0004020202020204" pitchFamily="34" charset="0"/>
                <a:cs typeface="Times New Roman" panose="02020603050405020304" pitchFamily="18" charset="0"/>
              </a:rPr>
              <a:t>accuracy</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comme critère de sélection du meilleur modèle</a:t>
            </a:r>
          </a:p>
        </p:txBody>
      </p:sp>
      <p:pic>
        <p:nvPicPr>
          <p:cNvPr id="8" name="Image 7">
            <a:extLst>
              <a:ext uri="{FF2B5EF4-FFF2-40B4-BE49-F238E27FC236}">
                <a16:creationId xmlns:a16="http://schemas.microsoft.com/office/drawing/2014/main" id="{E5FF918C-DE21-1DDB-B7D8-320DA925D001}"/>
              </a:ext>
            </a:extLst>
          </p:cNvPr>
          <p:cNvPicPr>
            <a:picLocks noChangeAspect="1"/>
          </p:cNvPicPr>
          <p:nvPr/>
        </p:nvPicPr>
        <p:blipFill>
          <a:blip r:embed="rId3"/>
          <a:srcRect b="23794"/>
          <a:stretch/>
        </p:blipFill>
        <p:spPr>
          <a:xfrm>
            <a:off x="1242649" y="4539431"/>
            <a:ext cx="9055565" cy="2022839"/>
          </a:xfrm>
          <a:prstGeom prst="rect">
            <a:avLst/>
          </a:prstGeom>
        </p:spPr>
      </p:pic>
      <p:pic>
        <p:nvPicPr>
          <p:cNvPr id="4" name="Image 3">
            <a:extLst>
              <a:ext uri="{FF2B5EF4-FFF2-40B4-BE49-F238E27FC236}">
                <a16:creationId xmlns:a16="http://schemas.microsoft.com/office/drawing/2014/main" id="{7E0FF026-189F-91BD-3B4D-CD8A86EBF96B}"/>
              </a:ext>
            </a:extLst>
          </p:cNvPr>
          <p:cNvPicPr>
            <a:picLocks noChangeAspect="1"/>
          </p:cNvPicPr>
          <p:nvPr/>
        </p:nvPicPr>
        <p:blipFill>
          <a:blip r:embed="rId4"/>
          <a:stretch>
            <a:fillRect/>
          </a:stretch>
        </p:blipFill>
        <p:spPr>
          <a:xfrm>
            <a:off x="7574082" y="952621"/>
            <a:ext cx="4392696" cy="2731896"/>
          </a:xfrm>
          <a:prstGeom prst="rect">
            <a:avLst/>
          </a:prstGeom>
        </p:spPr>
      </p:pic>
    </p:spTree>
    <p:extLst>
      <p:ext uri="{BB962C8B-B14F-4D97-AF65-F5344CB8AC3E}">
        <p14:creationId xmlns:p14="http://schemas.microsoft.com/office/powerpoint/2010/main" val="1052628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17C321-CD47-C68E-B6DD-6FAF07D7330C}"/>
              </a:ext>
            </a:extLst>
          </p:cNvPr>
          <p:cNvSpPr>
            <a:spLocks noGrp="1"/>
          </p:cNvSpPr>
          <p:nvPr>
            <p:ph type="title"/>
          </p:nvPr>
        </p:nvSpPr>
        <p:spPr>
          <a:xfrm>
            <a:off x="581192" y="702156"/>
            <a:ext cx="11029616" cy="882095"/>
          </a:xfrm>
        </p:spPr>
        <p:txBody>
          <a:bodyPr/>
          <a:lstStyle/>
          <a:p>
            <a:r>
              <a:rPr lang="fr-FR" dirty="0"/>
              <a:t>2. Machine LEARNING: RUN 2</a:t>
            </a:r>
          </a:p>
        </p:txBody>
      </p:sp>
      <p:sp>
        <p:nvSpPr>
          <p:cNvPr id="3" name="Espace réservé du contenu 2">
            <a:extLst>
              <a:ext uri="{FF2B5EF4-FFF2-40B4-BE49-F238E27FC236}">
                <a16:creationId xmlns:a16="http://schemas.microsoft.com/office/drawing/2014/main" id="{CB2FB9F8-72E6-D2C7-0867-FB064512D310}"/>
              </a:ext>
            </a:extLst>
          </p:cNvPr>
          <p:cNvSpPr>
            <a:spLocks noGrp="1"/>
          </p:cNvSpPr>
          <p:nvPr>
            <p:ph idx="1"/>
          </p:nvPr>
        </p:nvSpPr>
        <p:spPr>
          <a:xfrm>
            <a:off x="581193" y="1584251"/>
            <a:ext cx="7516328" cy="5105307"/>
          </a:xfrm>
        </p:spPr>
        <p:txBody>
          <a:bodyPr>
            <a:normAutofit/>
          </a:bodyPr>
          <a:lstStyle/>
          <a:p>
            <a:r>
              <a:rPr lang="fr-FR" sz="1800" b="0" i="0" u="none" strike="noStrike" baseline="0" dirty="0">
                <a:solidFill>
                  <a:srgbClr val="000000"/>
                </a:solidFill>
                <a:latin typeface="Arial" panose="020B0604020202020204" pitchFamily="34" charset="0"/>
              </a:rPr>
              <a:t>Usage d’</a:t>
            </a:r>
            <a:r>
              <a:rPr lang="fr-FR" sz="1800" dirty="0">
                <a:solidFill>
                  <a:srgbClr val="000000"/>
                </a:solidFill>
                <a:latin typeface="Arial" panose="020B0604020202020204" pitchFamily="34" charset="0"/>
              </a:rPr>
              <a:t>OPTUNA (open source) pour remplacer les hyperparamètres fixes :</a:t>
            </a:r>
          </a:p>
          <a:p>
            <a:pPr lvl="1"/>
            <a:r>
              <a:rPr lang="fr-FR" sz="1500" dirty="0" err="1">
                <a:solidFill>
                  <a:srgbClr val="000000"/>
                </a:solidFill>
                <a:latin typeface="Arial" panose="020B0604020202020204" pitchFamily="34" charset="0"/>
              </a:rPr>
              <a:t>n_estimators</a:t>
            </a:r>
            <a:r>
              <a:rPr lang="fr-FR" sz="1500" dirty="0">
                <a:solidFill>
                  <a:srgbClr val="000000"/>
                </a:solidFill>
                <a:latin typeface="Arial" panose="020B0604020202020204" pitchFamily="34" charset="0"/>
              </a:rPr>
              <a:t>, </a:t>
            </a:r>
            <a:r>
              <a:rPr lang="fr-FR" sz="1500" dirty="0" err="1">
                <a:solidFill>
                  <a:srgbClr val="000000"/>
                </a:solidFill>
                <a:latin typeface="Arial" panose="020B0604020202020204" pitchFamily="34" charset="0"/>
              </a:rPr>
              <a:t>max_depth</a:t>
            </a:r>
            <a:r>
              <a:rPr lang="fr-FR" sz="1500" dirty="0">
                <a:solidFill>
                  <a:srgbClr val="000000"/>
                </a:solidFill>
                <a:latin typeface="Arial" panose="020B0604020202020204" pitchFamily="34" charset="0"/>
              </a:rPr>
              <a:t>, </a:t>
            </a:r>
            <a:r>
              <a:rPr lang="fr-FR" sz="1500" dirty="0" err="1">
                <a:solidFill>
                  <a:srgbClr val="000000"/>
                </a:solidFill>
                <a:latin typeface="Arial" panose="020B0604020202020204" pitchFamily="34" charset="0"/>
              </a:rPr>
              <a:t>learning_rate</a:t>
            </a:r>
            <a:r>
              <a:rPr lang="fr-FR" sz="1500" dirty="0">
                <a:solidFill>
                  <a:srgbClr val="000000"/>
                </a:solidFill>
                <a:latin typeface="Arial" panose="020B0604020202020204" pitchFamily="34" charset="0"/>
              </a:rPr>
              <a:t> pour </a:t>
            </a:r>
            <a:r>
              <a:rPr lang="fr-FR" sz="1500" i="1" dirty="0" err="1">
                <a:solidFill>
                  <a:srgbClr val="000000"/>
                </a:solidFill>
                <a:latin typeface="Arial" panose="020B0604020202020204" pitchFamily="34" charset="0"/>
              </a:rPr>
              <a:t>RandomForest</a:t>
            </a:r>
            <a:r>
              <a:rPr lang="fr-FR" sz="1500" i="1" dirty="0">
                <a:solidFill>
                  <a:srgbClr val="000000"/>
                </a:solidFill>
                <a:latin typeface="Arial" panose="020B0604020202020204" pitchFamily="34" charset="0"/>
              </a:rPr>
              <a:t> et Gradient </a:t>
            </a:r>
            <a:r>
              <a:rPr lang="fr-FR" sz="1500" i="1" dirty="0" err="1">
                <a:solidFill>
                  <a:srgbClr val="000000"/>
                </a:solidFill>
                <a:latin typeface="Arial" panose="020B0604020202020204" pitchFamily="34" charset="0"/>
              </a:rPr>
              <a:t>Boosting</a:t>
            </a:r>
            <a:r>
              <a:rPr lang="fr-FR" sz="1500" dirty="0">
                <a:solidFill>
                  <a:srgbClr val="000000"/>
                </a:solidFill>
                <a:latin typeface="Arial" panose="020B0604020202020204" pitchFamily="34" charset="0"/>
              </a:rPr>
              <a:t> </a:t>
            </a:r>
            <a:r>
              <a:rPr lang="fr-FR" sz="1500" dirty="0" err="1">
                <a:solidFill>
                  <a:srgbClr val="000000"/>
                </a:solidFill>
                <a:latin typeface="Arial" panose="020B0604020202020204" pitchFamily="34" charset="0"/>
              </a:rPr>
              <a:t>LightGBM</a:t>
            </a:r>
            <a:r>
              <a:rPr lang="fr-FR" sz="1500" dirty="0">
                <a:solidFill>
                  <a:srgbClr val="000000"/>
                </a:solidFill>
                <a:latin typeface="Arial" panose="020B0604020202020204" pitchFamily="34" charset="0"/>
              </a:rPr>
              <a:t> ;</a:t>
            </a:r>
          </a:p>
          <a:p>
            <a:pPr lvl="1"/>
            <a:r>
              <a:rPr lang="fr-FR" sz="1500" dirty="0">
                <a:solidFill>
                  <a:srgbClr val="000000"/>
                </a:solidFill>
                <a:latin typeface="Arial" panose="020B0604020202020204" pitchFamily="34" charset="0"/>
              </a:rPr>
              <a:t>nb d'unités, dropout, </a:t>
            </a:r>
            <a:r>
              <a:rPr lang="fr-FR" sz="1500" dirty="0" err="1">
                <a:solidFill>
                  <a:srgbClr val="000000"/>
                </a:solidFill>
                <a:latin typeface="Arial" panose="020B0604020202020204" pitchFamily="34" charset="0"/>
              </a:rPr>
              <a:t>learning_rate</a:t>
            </a:r>
            <a:r>
              <a:rPr lang="fr-FR" sz="1500" dirty="0">
                <a:solidFill>
                  <a:srgbClr val="000000"/>
                </a:solidFill>
                <a:latin typeface="Arial" panose="020B0604020202020204" pitchFamily="34" charset="0"/>
              </a:rPr>
              <a:t> pour le </a:t>
            </a:r>
            <a:r>
              <a:rPr lang="fr-FR" sz="1500" u="sng" dirty="0">
                <a:solidFill>
                  <a:srgbClr val="000000"/>
                </a:solidFill>
                <a:latin typeface="Arial" panose="020B0604020202020204" pitchFamily="34" charset="0"/>
              </a:rPr>
              <a:t>Réseau de Neurones</a:t>
            </a:r>
          </a:p>
          <a:p>
            <a:r>
              <a:rPr lang="fr-FR" sz="1800" dirty="0">
                <a:solidFill>
                  <a:srgbClr val="000000"/>
                </a:solidFill>
                <a:latin typeface="Arial" panose="020B0604020202020204" pitchFamily="34" charset="0"/>
              </a:rPr>
              <a:t>Appliqué uniquement sur les plus prometteurs:</a:t>
            </a:r>
          </a:p>
          <a:p>
            <a:pPr lvl="1"/>
            <a:r>
              <a:rPr lang="fr-FR" sz="1500" dirty="0">
                <a:solidFill>
                  <a:srgbClr val="000000"/>
                </a:solidFill>
                <a:latin typeface="Arial" panose="020B0604020202020204" pitchFamily="34" charset="0"/>
              </a:rPr>
              <a:t>Caractéristique: </a:t>
            </a:r>
            <a:r>
              <a:rPr lang="fr-FR" sz="1500" dirty="0">
                <a:solidFill>
                  <a:schemeClr val="bg1">
                    <a:lumMod val="65000"/>
                  </a:schemeClr>
                </a:solidFill>
                <a:latin typeface="Arial" panose="020B0604020202020204" pitchFamily="34" charset="0"/>
              </a:rPr>
              <a:t>RandomForest_IMPORTANCE_20 </a:t>
            </a:r>
          </a:p>
          <a:p>
            <a:pPr lvl="1"/>
            <a:r>
              <a:rPr lang="fr-FR" sz="1500" dirty="0">
                <a:solidFill>
                  <a:srgbClr val="000000"/>
                </a:solidFill>
                <a:latin typeface="Arial" panose="020B0604020202020204" pitchFamily="34" charset="0"/>
              </a:rPr>
              <a:t>Modèles: </a:t>
            </a:r>
            <a:r>
              <a:rPr lang="fr-FR" sz="1500" dirty="0" err="1">
                <a:solidFill>
                  <a:srgbClr val="000000"/>
                </a:solidFill>
                <a:latin typeface="Arial" panose="020B0604020202020204" pitchFamily="34" charset="0"/>
              </a:rPr>
              <a:t>RandomForest</a:t>
            </a:r>
            <a:r>
              <a:rPr lang="fr-FR" sz="1500" dirty="0">
                <a:solidFill>
                  <a:srgbClr val="000000"/>
                </a:solidFill>
                <a:latin typeface="Arial" panose="020B0604020202020204" pitchFamily="34" charset="0"/>
              </a:rPr>
              <a:t>, </a:t>
            </a:r>
            <a:r>
              <a:rPr lang="fr-FR" sz="1500" dirty="0" err="1">
                <a:solidFill>
                  <a:srgbClr val="000000"/>
                </a:solidFill>
                <a:latin typeface="Arial" panose="020B0604020202020204" pitchFamily="34" charset="0"/>
              </a:rPr>
              <a:t>LightGBM</a:t>
            </a:r>
            <a:r>
              <a:rPr lang="fr-FR" sz="1500" dirty="0">
                <a:solidFill>
                  <a:srgbClr val="000000"/>
                </a:solidFill>
                <a:latin typeface="Arial" panose="020B0604020202020204" pitchFamily="34" charset="0"/>
              </a:rPr>
              <a:t>, et réseau de neurones</a:t>
            </a:r>
          </a:p>
          <a:p>
            <a:pPr lvl="1"/>
            <a:r>
              <a:rPr lang="fr-FR" sz="1500" dirty="0">
                <a:solidFill>
                  <a:srgbClr val="000000"/>
                </a:solidFill>
                <a:latin typeface="Arial" panose="020B0604020202020204" pitchFamily="34" charset="0"/>
              </a:rPr>
              <a:t>Et ajout d’une régression ordinale (</a:t>
            </a:r>
            <a:r>
              <a:rPr lang="fr-FR" sz="1500" dirty="0" err="1">
                <a:solidFill>
                  <a:srgbClr val="A6A6A6"/>
                </a:solidFill>
                <a:effectLst/>
                <a:latin typeface="Aptos" panose="020B0004020202020204" pitchFamily="34" charset="0"/>
                <a:ea typeface="Aptos" panose="020B0004020202020204" pitchFamily="34" charset="0"/>
                <a:cs typeface="Times New Roman" panose="02020603050405020304" pitchFamily="18" charset="0"/>
              </a:rPr>
              <a:t>mord.LogisticAT</a:t>
            </a:r>
            <a:r>
              <a:rPr lang="fr-FR" sz="1500" dirty="0">
                <a:effectLst/>
                <a:latin typeface="Aptos" panose="020B0004020202020204" pitchFamily="34" charset="0"/>
                <a:ea typeface="Aptos" panose="020B0004020202020204" pitchFamily="34" charset="0"/>
                <a:cs typeface="Times New Roman" panose="02020603050405020304" pitchFamily="18" charset="0"/>
              </a:rPr>
              <a:t> </a:t>
            </a:r>
            <a:r>
              <a:rPr lang="fr-FR" sz="1900" dirty="0">
                <a:effectLst/>
                <a:latin typeface="Aptos" panose="020B0004020202020204" pitchFamily="34" charset="0"/>
                <a:ea typeface="Aptos" panose="020B0004020202020204" pitchFamily="34" charset="0"/>
                <a:cs typeface="Times New Roman" panose="02020603050405020304" pitchFamily="18" charset="0"/>
              </a:rPr>
              <a:t>)</a:t>
            </a:r>
            <a:endParaRPr lang="fr-FR" sz="1500" dirty="0">
              <a:solidFill>
                <a:srgbClr val="000000"/>
              </a:solidFill>
              <a:latin typeface="Arial" panose="020B0604020202020204" pitchFamily="34" charset="0"/>
            </a:endParaRPr>
          </a:p>
          <a:p>
            <a:r>
              <a:rPr lang="fr-FR" sz="1800" dirty="0">
                <a:solidFill>
                  <a:srgbClr val="000000"/>
                </a:solidFill>
                <a:latin typeface="Arial" panose="020B0604020202020204" pitchFamily="34" charset="0"/>
              </a:rPr>
              <a:t>Chaque essai = un fit + une éval </a:t>
            </a:r>
          </a:p>
          <a:p>
            <a:pPr lvl="1"/>
            <a:r>
              <a:rPr lang="fr-FR" sz="1500" dirty="0">
                <a:solidFill>
                  <a:srgbClr val="000000"/>
                </a:solidFill>
                <a:latin typeface="Arial" panose="020B0604020202020204" pitchFamily="34" charset="0"/>
              </a:rPr>
              <a:t>donc le coût se multiplie par le nombre de trials (typiquement 20-50) — passer de ~8 min à potentiellement 1 à 2h si on l'applique aux 12 combos.</a:t>
            </a:r>
          </a:p>
          <a:p>
            <a:endParaRPr lang="fr-FR" sz="1800" b="0" i="0" u="none" strike="noStrike" baseline="0" dirty="0">
              <a:solidFill>
                <a:srgbClr val="000000"/>
              </a:solidFill>
              <a:latin typeface="Arial" panose="020B0604020202020204" pitchFamily="34" charset="0"/>
            </a:endParaRPr>
          </a:p>
        </p:txBody>
      </p:sp>
      <p:sp>
        <p:nvSpPr>
          <p:cNvPr id="4" name="ZoneTexte 3">
            <a:extLst>
              <a:ext uri="{FF2B5EF4-FFF2-40B4-BE49-F238E27FC236}">
                <a16:creationId xmlns:a16="http://schemas.microsoft.com/office/drawing/2014/main" id="{D639C4A0-4165-B971-DD74-24BEBD0E06F6}"/>
              </a:ext>
            </a:extLst>
          </p:cNvPr>
          <p:cNvSpPr txBox="1"/>
          <p:nvPr/>
        </p:nvSpPr>
        <p:spPr>
          <a:xfrm>
            <a:off x="8470232" y="2791326"/>
            <a:ext cx="2935705" cy="2585323"/>
          </a:xfrm>
          <a:prstGeom prst="rect">
            <a:avLst/>
          </a:prstGeom>
          <a:noFill/>
        </p:spPr>
        <p:txBody>
          <a:bodyPr wrap="square" rtlCol="0">
            <a:spAutoFit/>
          </a:bodyPr>
          <a:lstStyle/>
          <a:p>
            <a:r>
              <a:rPr lang="fr-FR" sz="1600" u="sng" dirty="0">
                <a:solidFill>
                  <a:srgbClr val="000000"/>
                </a:solidFill>
                <a:latin typeface="Arial" panose="020B0604020202020204" pitchFamily="34" charset="0"/>
              </a:rPr>
              <a:t>Régression logistique ordinale</a:t>
            </a:r>
          </a:p>
          <a:p>
            <a:r>
              <a:rPr lang="fr-FR" sz="1600" dirty="0">
                <a:solidFill>
                  <a:srgbClr val="000000"/>
                </a:solidFill>
                <a:latin typeface="Arial" panose="020B0604020202020204" pitchFamily="34" charset="0"/>
              </a:rPr>
              <a:t>La cible (niveau d’urgence 0/1/2) est ordinale : et manquer une classe 2 en prédisant 0 est bien pire que prédire 1. </a:t>
            </a:r>
          </a:p>
          <a:p>
            <a:r>
              <a:rPr lang="fr-FR" sz="1600" dirty="0">
                <a:solidFill>
                  <a:srgbClr val="000000"/>
                </a:solidFill>
                <a:latin typeface="Arial" panose="020B0604020202020204" pitchFamily="34" charset="0"/>
              </a:rPr>
              <a:t>Un modèle de régression ordinale encode explicitement que 2 &gt; 1 &gt; 0.</a:t>
            </a:r>
          </a:p>
          <a:p>
            <a:endParaRPr lang="fr-FR" dirty="0"/>
          </a:p>
        </p:txBody>
      </p:sp>
      <p:cxnSp>
        <p:nvCxnSpPr>
          <p:cNvPr id="6" name="Connecteur droit 5">
            <a:extLst>
              <a:ext uri="{FF2B5EF4-FFF2-40B4-BE49-F238E27FC236}">
                <a16:creationId xmlns:a16="http://schemas.microsoft.com/office/drawing/2014/main" id="{9F95A4FF-D33A-DFB3-E8B5-3E5FC88E24E9}"/>
              </a:ext>
            </a:extLst>
          </p:cNvPr>
          <p:cNvCxnSpPr>
            <a:cxnSpLocks/>
          </p:cNvCxnSpPr>
          <p:nvPr/>
        </p:nvCxnSpPr>
        <p:spPr>
          <a:xfrm flipV="1">
            <a:off x="5903843" y="3051208"/>
            <a:ext cx="2566389" cy="1809027"/>
          </a:xfrm>
          <a:prstGeom prst="line">
            <a:avLst/>
          </a:prstGeom>
        </p:spPr>
        <p:style>
          <a:lnRef idx="1">
            <a:schemeClr val="accent1"/>
          </a:lnRef>
          <a:fillRef idx="0">
            <a:schemeClr val="accent1"/>
          </a:fillRef>
          <a:effectRef idx="0">
            <a:schemeClr val="accent1"/>
          </a:effectRef>
          <a:fontRef idx="minor">
            <a:schemeClr val="tx1"/>
          </a:fontRef>
        </p:style>
      </p:cxnSp>
      <p:pic>
        <p:nvPicPr>
          <p:cNvPr id="8" name="Image 7">
            <a:extLst>
              <a:ext uri="{FF2B5EF4-FFF2-40B4-BE49-F238E27FC236}">
                <a16:creationId xmlns:a16="http://schemas.microsoft.com/office/drawing/2014/main" id="{F0DFDC11-560E-5395-F7F0-19A438D70102}"/>
              </a:ext>
            </a:extLst>
          </p:cNvPr>
          <p:cNvPicPr>
            <a:picLocks noChangeAspect="1"/>
          </p:cNvPicPr>
          <p:nvPr/>
        </p:nvPicPr>
        <p:blipFill>
          <a:blip r:embed="rId3"/>
          <a:stretch>
            <a:fillRect/>
          </a:stretch>
        </p:blipFill>
        <p:spPr>
          <a:xfrm>
            <a:off x="7161196" y="1536143"/>
            <a:ext cx="3047047" cy="615980"/>
          </a:xfrm>
          <a:prstGeom prst="rect">
            <a:avLst/>
          </a:prstGeom>
        </p:spPr>
      </p:pic>
    </p:spTree>
    <p:extLst>
      <p:ext uri="{BB962C8B-B14F-4D97-AF65-F5344CB8AC3E}">
        <p14:creationId xmlns:p14="http://schemas.microsoft.com/office/powerpoint/2010/main" val="2681559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17C321-CD47-C68E-B6DD-6FAF07D7330C}"/>
              </a:ext>
            </a:extLst>
          </p:cNvPr>
          <p:cNvSpPr>
            <a:spLocks noGrp="1"/>
          </p:cNvSpPr>
          <p:nvPr>
            <p:ph type="title"/>
          </p:nvPr>
        </p:nvSpPr>
        <p:spPr>
          <a:xfrm>
            <a:off x="581192" y="702156"/>
            <a:ext cx="11029616" cy="529878"/>
          </a:xfrm>
        </p:spPr>
        <p:txBody>
          <a:bodyPr/>
          <a:lstStyle/>
          <a:p>
            <a:r>
              <a:rPr lang="fr-FR" dirty="0"/>
              <a:t>3. résultats et Choix</a:t>
            </a:r>
          </a:p>
        </p:txBody>
      </p:sp>
      <p:sp>
        <p:nvSpPr>
          <p:cNvPr id="3" name="Espace réservé du contenu 2">
            <a:extLst>
              <a:ext uri="{FF2B5EF4-FFF2-40B4-BE49-F238E27FC236}">
                <a16:creationId xmlns:a16="http://schemas.microsoft.com/office/drawing/2014/main" id="{CB2FB9F8-72E6-D2C7-0867-FB064512D310}"/>
              </a:ext>
            </a:extLst>
          </p:cNvPr>
          <p:cNvSpPr>
            <a:spLocks noGrp="1"/>
          </p:cNvSpPr>
          <p:nvPr>
            <p:ph idx="1"/>
          </p:nvPr>
        </p:nvSpPr>
        <p:spPr>
          <a:xfrm>
            <a:off x="660705" y="1232034"/>
            <a:ext cx="6127616" cy="3596576"/>
          </a:xfrm>
        </p:spPr>
        <p:txBody>
          <a:bodyPr>
            <a:normAutofit/>
          </a:bodyPr>
          <a:lstStyle/>
          <a:p>
            <a:r>
              <a:rPr lang="fr-FR" dirty="0"/>
              <a:t>Régression logistique ordinale: résultats en deçà des attentes (~8eme rang RUN 1) sur ce jeu de données </a:t>
            </a:r>
          </a:p>
          <a:p>
            <a:pPr lvl="0"/>
            <a:r>
              <a:rPr lang="fr-FR" dirty="0"/>
              <a:t>Métriques:</a:t>
            </a:r>
          </a:p>
          <a:p>
            <a:pPr lvl="1"/>
            <a:r>
              <a:rPr lang="fr-FR" dirty="0">
                <a:solidFill>
                  <a:schemeClr val="accent1"/>
                </a:solidFill>
              </a:rPr>
              <a:t>F1_macro </a:t>
            </a:r>
            <a:r>
              <a:rPr lang="fr-FR" dirty="0"/>
              <a:t>:  "le modèle traite-t-il les 3 niveaux d'urgence équitablement ?" (métrique de performance générale)</a:t>
            </a:r>
          </a:p>
          <a:p>
            <a:pPr lvl="1"/>
            <a:r>
              <a:rPr lang="fr-FR" dirty="0" err="1">
                <a:solidFill>
                  <a:schemeClr val="accent1"/>
                </a:solidFill>
              </a:rPr>
              <a:t>roc_auc_ovr_macro</a:t>
            </a:r>
            <a:r>
              <a:rPr lang="fr-FR" dirty="0">
                <a:solidFill>
                  <a:schemeClr val="accent1"/>
                </a:solidFill>
              </a:rPr>
              <a:t> </a:t>
            </a:r>
            <a:r>
              <a:rPr lang="fr-FR" dirty="0"/>
              <a:t>: "le modèle </a:t>
            </a:r>
            <a:r>
              <a:rPr lang="fr-FR" dirty="0" err="1"/>
              <a:t>sait-il</a:t>
            </a:r>
            <a:r>
              <a:rPr lang="fr-FR" dirty="0"/>
              <a:t> discriminer les classes par ses probabilités, avant tout choix de seuil ?" (métrique de qualité de discrimination)</a:t>
            </a:r>
          </a:p>
          <a:p>
            <a:pPr lvl="1"/>
            <a:r>
              <a:rPr lang="fr-FR" dirty="0"/>
              <a:t>le risque clinique (rater une urgence vitale) c'est le rôle de </a:t>
            </a:r>
            <a:r>
              <a:rPr lang="fr-FR" dirty="0" err="1">
                <a:solidFill>
                  <a:schemeClr val="accent1"/>
                </a:solidFill>
              </a:rPr>
              <a:t>critical_undertriage_rate</a:t>
            </a:r>
            <a:r>
              <a:rPr lang="fr-FR" dirty="0"/>
              <a:t>, métrique métier la plus importante pour ce projet selon moi</a:t>
            </a:r>
          </a:p>
          <a:p>
            <a:endParaRPr lang="en-US" dirty="0"/>
          </a:p>
        </p:txBody>
      </p:sp>
      <p:sp>
        <p:nvSpPr>
          <p:cNvPr id="4" name="ZoneTexte 3">
            <a:extLst>
              <a:ext uri="{FF2B5EF4-FFF2-40B4-BE49-F238E27FC236}">
                <a16:creationId xmlns:a16="http://schemas.microsoft.com/office/drawing/2014/main" id="{F7B0A8A3-7152-82B4-9FA3-F48D6593A9BA}"/>
              </a:ext>
            </a:extLst>
          </p:cNvPr>
          <p:cNvSpPr txBox="1"/>
          <p:nvPr/>
        </p:nvSpPr>
        <p:spPr>
          <a:xfrm>
            <a:off x="7655442" y="828262"/>
            <a:ext cx="4289511" cy="2631490"/>
          </a:xfrm>
          <a:prstGeom prst="rect">
            <a:avLst/>
          </a:prstGeom>
          <a:noFill/>
        </p:spPr>
        <p:txBody>
          <a:bodyPr wrap="square" rtlCol="0">
            <a:spAutoFit/>
          </a:bodyPr>
          <a:lstStyle/>
          <a:p>
            <a:r>
              <a:rPr lang="fr-FR" sz="1100" u="sng" dirty="0"/>
              <a:t>Problème avec une structure non linéaire</a:t>
            </a:r>
            <a:r>
              <a:rPr lang="fr-FR" sz="1100" dirty="0"/>
              <a:t>: la relation entre les variables d'entrée (constantes vitales, </a:t>
            </a:r>
            <a:r>
              <a:rPr lang="fr-FR" sz="1100" dirty="0" err="1"/>
              <a:t>embeddings</a:t>
            </a:r>
            <a:r>
              <a:rPr lang="fr-FR" sz="1100" dirty="0"/>
              <a:t>) et le niveau d'urgence n'est pas une simple somme pondérée, elle dépend d'interactions et de seuils que les modèles linéaires (régressions logistiques) ne peuvent pas capturer.</a:t>
            </a:r>
          </a:p>
          <a:p>
            <a:r>
              <a:rPr lang="fr-FR" sz="1100" dirty="0"/>
              <a:t>Ici système d’</a:t>
            </a:r>
            <a:r>
              <a:rPr lang="fr-FR" sz="1100" u="sng" dirty="0"/>
              <a:t>interaction </a:t>
            </a:r>
            <a:r>
              <a:rPr lang="fr-FR" sz="1100" dirty="0"/>
              <a:t>: l'effet d'une variable dépend de la valeur d'une autre.</a:t>
            </a:r>
          </a:p>
          <a:p>
            <a:r>
              <a:rPr lang="fr-FR" sz="1100" dirty="0"/>
              <a:t>Les </a:t>
            </a:r>
            <a:r>
              <a:rPr lang="fr-FR" sz="1100" u="sng" dirty="0"/>
              <a:t>arbres de décision </a:t>
            </a:r>
            <a:r>
              <a:rPr lang="fr-FR" sz="1100" dirty="0"/>
              <a:t>(</a:t>
            </a:r>
            <a:r>
              <a:rPr lang="fr-FR" sz="1100" dirty="0" err="1"/>
              <a:t>RandomForest</a:t>
            </a:r>
            <a:r>
              <a:rPr lang="fr-FR" sz="1100" dirty="0"/>
              <a:t>, </a:t>
            </a:r>
            <a:r>
              <a:rPr lang="fr-FR" sz="1100" dirty="0" err="1"/>
              <a:t>LightGBM</a:t>
            </a:r>
            <a:r>
              <a:rPr lang="fr-FR" sz="1100" dirty="0"/>
              <a:t>) capturent cela: chaque split de l'arbre est une condition (si temp &gt; 38.5 et </a:t>
            </a:r>
            <a:r>
              <a:rPr lang="fr-FR" sz="1100" dirty="0" err="1"/>
              <a:t>sat_oxygene</a:t>
            </a:r>
            <a:r>
              <a:rPr lang="fr-FR" sz="1100" dirty="0"/>
              <a:t> &lt; 92 alors...), et la combinaison de plusieurs </a:t>
            </a:r>
            <a:r>
              <a:rPr lang="fr-FR" sz="1100" dirty="0" err="1"/>
              <a:t>splits</a:t>
            </a:r>
            <a:r>
              <a:rPr lang="fr-FR" sz="1100" dirty="0"/>
              <a:t> successifs reconstruit ces interactions sans qu'on ait besoin de les spécifier à l'avance</a:t>
            </a:r>
          </a:p>
          <a:p>
            <a:r>
              <a:rPr lang="fr-FR" sz="1100" dirty="0"/>
              <a:t>Les </a:t>
            </a:r>
            <a:r>
              <a:rPr lang="fr-FR" sz="1100" u="sng" dirty="0"/>
              <a:t>réseaux de neurones et arbres </a:t>
            </a:r>
            <a:r>
              <a:rPr lang="fr-FR" sz="1100" dirty="0"/>
              <a:t>sont les plus habiles sur des structures non linéaires (f1_macro)</a:t>
            </a:r>
          </a:p>
          <a:p>
            <a:endParaRPr lang="fr-FR" sz="1100" dirty="0"/>
          </a:p>
        </p:txBody>
      </p:sp>
      <p:pic>
        <p:nvPicPr>
          <p:cNvPr id="6" name="Image 5">
            <a:extLst>
              <a:ext uri="{FF2B5EF4-FFF2-40B4-BE49-F238E27FC236}">
                <a16:creationId xmlns:a16="http://schemas.microsoft.com/office/drawing/2014/main" id="{C504A1D6-80EB-C0DF-13E8-4BD6F6C8B82D}"/>
              </a:ext>
            </a:extLst>
          </p:cNvPr>
          <p:cNvPicPr>
            <a:picLocks noChangeAspect="1"/>
          </p:cNvPicPr>
          <p:nvPr/>
        </p:nvPicPr>
        <p:blipFill>
          <a:blip r:embed="rId3"/>
          <a:stretch>
            <a:fillRect/>
          </a:stretch>
        </p:blipFill>
        <p:spPr>
          <a:xfrm>
            <a:off x="6578011" y="4143802"/>
            <a:ext cx="5366942" cy="2367768"/>
          </a:xfrm>
          <a:prstGeom prst="rect">
            <a:avLst/>
          </a:prstGeom>
        </p:spPr>
      </p:pic>
      <p:sp>
        <p:nvSpPr>
          <p:cNvPr id="7" name="Arc 6">
            <a:extLst>
              <a:ext uri="{FF2B5EF4-FFF2-40B4-BE49-F238E27FC236}">
                <a16:creationId xmlns:a16="http://schemas.microsoft.com/office/drawing/2014/main" id="{67269812-16B6-0D63-3CBE-CEAB879AAC74}"/>
              </a:ext>
            </a:extLst>
          </p:cNvPr>
          <p:cNvSpPr/>
          <p:nvPr/>
        </p:nvSpPr>
        <p:spPr>
          <a:xfrm>
            <a:off x="3806687" y="1761912"/>
            <a:ext cx="3784960" cy="56255"/>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pic>
        <p:nvPicPr>
          <p:cNvPr id="9" name="Image 8">
            <a:extLst>
              <a:ext uri="{FF2B5EF4-FFF2-40B4-BE49-F238E27FC236}">
                <a16:creationId xmlns:a16="http://schemas.microsoft.com/office/drawing/2014/main" id="{6E162EC1-6526-A68F-01CD-21363456B7E5}"/>
              </a:ext>
            </a:extLst>
          </p:cNvPr>
          <p:cNvPicPr>
            <a:picLocks noChangeAspect="1"/>
          </p:cNvPicPr>
          <p:nvPr/>
        </p:nvPicPr>
        <p:blipFill>
          <a:blip r:embed="rId4"/>
          <a:stretch>
            <a:fillRect/>
          </a:stretch>
        </p:blipFill>
        <p:spPr>
          <a:xfrm>
            <a:off x="968665" y="4536383"/>
            <a:ext cx="4806020" cy="1975187"/>
          </a:xfrm>
          <a:prstGeom prst="rect">
            <a:avLst/>
          </a:prstGeom>
        </p:spPr>
      </p:pic>
    </p:spTree>
    <p:extLst>
      <p:ext uri="{BB962C8B-B14F-4D97-AF65-F5344CB8AC3E}">
        <p14:creationId xmlns:p14="http://schemas.microsoft.com/office/powerpoint/2010/main" val="1374090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0C56474-0F5A-9312-B5D8-8AED4AE5CBF9}"/>
              </a:ext>
            </a:extLst>
          </p:cNvPr>
          <p:cNvSpPr>
            <a:spLocks noGrp="1"/>
          </p:cNvSpPr>
          <p:nvPr>
            <p:ph type="dt" sz="half" idx="10"/>
          </p:nvPr>
        </p:nvSpPr>
        <p:spPr/>
        <p:txBody>
          <a:bodyPr/>
          <a:lstStyle/>
          <a:p>
            <a:pPr rtl="0"/>
            <a:fld id="{ACEC98BE-FCE2-445F-8146-3A7F8CC3881D}" type="datetime1">
              <a:rPr lang="fr-FR" smtClean="0"/>
              <a:t>30/06/2026</a:t>
            </a:fld>
            <a:endParaRPr lang="en-US" dirty="0"/>
          </a:p>
        </p:txBody>
      </p:sp>
      <p:graphicFrame>
        <p:nvGraphicFramePr>
          <p:cNvPr id="8" name="Tableau 7">
            <a:extLst>
              <a:ext uri="{FF2B5EF4-FFF2-40B4-BE49-F238E27FC236}">
                <a16:creationId xmlns:a16="http://schemas.microsoft.com/office/drawing/2014/main" id="{39E27A16-4F5B-5311-C027-5B76B0B19D99}"/>
              </a:ext>
            </a:extLst>
          </p:cNvPr>
          <p:cNvGraphicFramePr>
            <a:graphicFrameLocks noGrp="1"/>
          </p:cNvGraphicFramePr>
          <p:nvPr>
            <p:extLst>
              <p:ext uri="{D42A27DB-BD31-4B8C-83A1-F6EECF244321}">
                <p14:modId xmlns:p14="http://schemas.microsoft.com/office/powerpoint/2010/main" val="3028539226"/>
              </p:ext>
            </p:extLst>
          </p:nvPr>
        </p:nvGraphicFramePr>
        <p:xfrm>
          <a:off x="877104" y="2471044"/>
          <a:ext cx="6728847" cy="3576320"/>
        </p:xfrm>
        <a:graphic>
          <a:graphicData uri="http://schemas.openxmlformats.org/drawingml/2006/table">
            <a:tbl>
              <a:tblPr firstRow="1" bandRow="1">
                <a:tableStyleId>{5C22544A-7EE6-4342-B048-85BDC9FD1C3A}</a:tableStyleId>
              </a:tblPr>
              <a:tblGrid>
                <a:gridCol w="2723173">
                  <a:extLst>
                    <a:ext uri="{9D8B030D-6E8A-4147-A177-3AD203B41FA5}">
                      <a16:colId xmlns:a16="http://schemas.microsoft.com/office/drawing/2014/main" val="3525763507"/>
                    </a:ext>
                  </a:extLst>
                </a:gridCol>
                <a:gridCol w="4005674">
                  <a:extLst>
                    <a:ext uri="{9D8B030D-6E8A-4147-A177-3AD203B41FA5}">
                      <a16:colId xmlns:a16="http://schemas.microsoft.com/office/drawing/2014/main" val="1365654087"/>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a:t>Phase	</a:t>
                      </a:r>
                    </a:p>
                    <a:p>
                      <a:endParaRPr lang="fr-FR" dirty="0"/>
                    </a:p>
                  </a:txBody>
                  <a:tcPr/>
                </a:tc>
                <a:tc>
                  <a:txBody>
                    <a:bodyPr/>
                    <a:lstStyle/>
                    <a:p>
                      <a:r>
                        <a:rPr lang="fr-FR" dirty="0"/>
                        <a:t>Contenu	</a:t>
                      </a:r>
                    </a:p>
                  </a:txBody>
                  <a:tcPr/>
                </a:tc>
                <a:extLst>
                  <a:ext uri="{0D108BD9-81ED-4DB2-BD59-A6C34878D82A}">
                    <a16:rowId xmlns:a16="http://schemas.microsoft.com/office/drawing/2014/main" val="3210776024"/>
                  </a:ext>
                </a:extLst>
              </a:tr>
              <a:tr h="370840">
                <a:tc>
                  <a:txBody>
                    <a:bodyPr/>
                    <a:lstStyle/>
                    <a:p>
                      <a:r>
                        <a:rPr lang="fr-FR" dirty="0"/>
                        <a:t>1 — </a:t>
                      </a:r>
                      <a:r>
                        <a:rPr lang="fr-FR" dirty="0" err="1"/>
                        <a:t>Serving</a:t>
                      </a:r>
                      <a:endParaRPr lang="fr-FR" dirty="0"/>
                    </a:p>
                  </a:txBody>
                  <a:tcPr/>
                </a:tc>
                <a:tc>
                  <a:txBody>
                    <a:bodyPr/>
                    <a:lstStyle/>
                    <a:p>
                      <a:r>
                        <a:rPr lang="fr-FR" dirty="0" err="1"/>
                        <a:t>MLflow</a:t>
                      </a:r>
                      <a:r>
                        <a:rPr lang="fr-FR" dirty="0"/>
                        <a:t> </a:t>
                      </a:r>
                      <a:r>
                        <a:rPr lang="fr-FR" dirty="0" err="1"/>
                        <a:t>Registry</a:t>
                      </a:r>
                      <a:r>
                        <a:rPr lang="fr-FR" dirty="0"/>
                        <a:t>, API /</a:t>
                      </a:r>
                      <a:r>
                        <a:rPr lang="fr-FR" dirty="0" err="1"/>
                        <a:t>predict</a:t>
                      </a:r>
                      <a:r>
                        <a:rPr lang="fr-FR" dirty="0"/>
                        <a:t>, frontend </a:t>
                      </a:r>
                      <a:r>
                        <a:rPr lang="fr-FR" dirty="0" err="1"/>
                        <a:t>Streamlit</a:t>
                      </a:r>
                      <a:r>
                        <a:rPr lang="fr-FR" dirty="0"/>
                        <a:t>, feedback différé</a:t>
                      </a:r>
                    </a:p>
                  </a:txBody>
                  <a:tcPr/>
                </a:tc>
                <a:extLst>
                  <a:ext uri="{0D108BD9-81ED-4DB2-BD59-A6C34878D82A}">
                    <a16:rowId xmlns:a16="http://schemas.microsoft.com/office/drawing/2014/main" val="3011417739"/>
                  </a:ext>
                </a:extLst>
              </a:tr>
              <a:tr h="370840">
                <a:tc>
                  <a:txBody>
                    <a:bodyPr/>
                    <a:lstStyle/>
                    <a:p>
                      <a:r>
                        <a:rPr lang="fr-FR" dirty="0"/>
                        <a:t>2 — Monitoring du modèle</a:t>
                      </a:r>
                    </a:p>
                  </a:txBody>
                  <a:tcPr/>
                </a:tc>
                <a:tc>
                  <a:txBody>
                    <a:bodyPr/>
                    <a:lstStyle/>
                    <a:p>
                      <a:r>
                        <a:rPr lang="fr-FR" dirty="0"/>
                        <a:t>Drift data/concept via </a:t>
                      </a:r>
                      <a:r>
                        <a:rPr lang="fr-FR" dirty="0" err="1"/>
                        <a:t>Evidently</a:t>
                      </a:r>
                      <a:r>
                        <a:rPr lang="fr-FR" dirty="0"/>
                        <a:t> AI</a:t>
                      </a:r>
                    </a:p>
                  </a:txBody>
                  <a:tcPr/>
                </a:tc>
                <a:extLst>
                  <a:ext uri="{0D108BD9-81ED-4DB2-BD59-A6C34878D82A}">
                    <a16:rowId xmlns:a16="http://schemas.microsoft.com/office/drawing/2014/main" val="3399062571"/>
                  </a:ext>
                </a:extLst>
              </a:tr>
              <a:tr h="370840">
                <a:tc>
                  <a:txBody>
                    <a:bodyPr/>
                    <a:lstStyle/>
                    <a:p>
                      <a:r>
                        <a:rPr lang="fr-FR" dirty="0"/>
                        <a:t>3 — Orchestration</a:t>
                      </a:r>
                    </a:p>
                  </a:txBody>
                  <a:tcPr/>
                </a:tc>
                <a:tc>
                  <a:txBody>
                    <a:bodyPr/>
                    <a:lstStyle/>
                    <a:p>
                      <a:r>
                        <a:rPr lang="fr-FR" dirty="0" err="1"/>
                        <a:t>Prefect</a:t>
                      </a:r>
                      <a:r>
                        <a:rPr lang="fr-FR" dirty="0"/>
                        <a:t> : drift planifié → réentraînement auto → promotion conditionnelle en « production »</a:t>
                      </a:r>
                    </a:p>
                  </a:txBody>
                  <a:tcPr/>
                </a:tc>
                <a:extLst>
                  <a:ext uri="{0D108BD9-81ED-4DB2-BD59-A6C34878D82A}">
                    <a16:rowId xmlns:a16="http://schemas.microsoft.com/office/drawing/2014/main" val="219729655"/>
                  </a:ext>
                </a:extLst>
              </a:tr>
              <a:tr h="360566">
                <a:tc>
                  <a:txBody>
                    <a:bodyPr/>
                    <a:lstStyle/>
                    <a:p>
                      <a:r>
                        <a:rPr lang="fr-FR" dirty="0"/>
                        <a:t>4 — CI/CD	</a:t>
                      </a:r>
                    </a:p>
                  </a:txBody>
                  <a:tcPr/>
                </a:tc>
                <a:tc>
                  <a:txBody>
                    <a:bodyPr/>
                    <a:lstStyle/>
                    <a:p>
                      <a:r>
                        <a:rPr lang="fr-FR" dirty="0"/>
                        <a:t>GitHub Actions (tests, </a:t>
                      </a:r>
                      <a:r>
                        <a:rPr lang="fr-FR" dirty="0" err="1"/>
                        <a:t>build</a:t>
                      </a:r>
                      <a:r>
                        <a:rPr lang="fr-FR" dirty="0"/>
                        <a:t>) </a:t>
                      </a:r>
                    </a:p>
                    <a:p>
                      <a:r>
                        <a:rPr lang="fr-FR" dirty="0"/>
                        <a:t>+ </a:t>
                      </a:r>
                      <a:r>
                        <a:rPr lang="fr-FR" dirty="0" err="1"/>
                        <a:t>DockerHub</a:t>
                      </a:r>
                      <a:r>
                        <a:rPr lang="fr-FR" dirty="0"/>
                        <a:t> (push des 5 images)</a:t>
                      </a:r>
                    </a:p>
                  </a:txBody>
                  <a:tcPr/>
                </a:tc>
                <a:extLst>
                  <a:ext uri="{0D108BD9-81ED-4DB2-BD59-A6C34878D82A}">
                    <a16:rowId xmlns:a16="http://schemas.microsoft.com/office/drawing/2014/main" val="2930490373"/>
                  </a:ext>
                </a:extLst>
              </a:tr>
              <a:tr h="370840">
                <a:tc>
                  <a:txBody>
                    <a:bodyPr/>
                    <a:lstStyle/>
                    <a:p>
                      <a:r>
                        <a:rPr lang="fr-FR" dirty="0"/>
                        <a:t>5 — Versioning données</a:t>
                      </a:r>
                    </a:p>
                  </a:txBody>
                  <a:tcPr/>
                </a:tc>
                <a:tc>
                  <a:txBody>
                    <a:bodyPr/>
                    <a:lstStyle/>
                    <a:p>
                      <a:r>
                        <a:rPr lang="fr-FR" dirty="0"/>
                        <a:t>Data Version Control du modèle</a:t>
                      </a:r>
                    </a:p>
                  </a:txBody>
                  <a:tcPr/>
                </a:tc>
                <a:extLst>
                  <a:ext uri="{0D108BD9-81ED-4DB2-BD59-A6C34878D82A}">
                    <a16:rowId xmlns:a16="http://schemas.microsoft.com/office/drawing/2014/main" val="4266663745"/>
                  </a:ext>
                </a:extLst>
              </a:tr>
            </a:tbl>
          </a:graphicData>
        </a:graphic>
      </p:graphicFrame>
      <p:pic>
        <p:nvPicPr>
          <p:cNvPr id="9" name="Image 8">
            <a:extLst>
              <a:ext uri="{FF2B5EF4-FFF2-40B4-BE49-F238E27FC236}">
                <a16:creationId xmlns:a16="http://schemas.microsoft.com/office/drawing/2014/main" id="{889A300F-51E5-1EC1-F7DB-E96A8369DAEE}"/>
              </a:ext>
            </a:extLst>
          </p:cNvPr>
          <p:cNvPicPr>
            <a:picLocks noChangeAspect="1"/>
          </p:cNvPicPr>
          <p:nvPr/>
        </p:nvPicPr>
        <p:blipFill>
          <a:blip r:embed="rId2"/>
          <a:stretch>
            <a:fillRect/>
          </a:stretch>
        </p:blipFill>
        <p:spPr>
          <a:xfrm>
            <a:off x="8859603" y="581755"/>
            <a:ext cx="3111109" cy="4457273"/>
          </a:xfrm>
          <a:prstGeom prst="rect">
            <a:avLst/>
          </a:prstGeom>
        </p:spPr>
      </p:pic>
      <p:sp>
        <p:nvSpPr>
          <p:cNvPr id="10" name="Titre 1">
            <a:extLst>
              <a:ext uri="{FF2B5EF4-FFF2-40B4-BE49-F238E27FC236}">
                <a16:creationId xmlns:a16="http://schemas.microsoft.com/office/drawing/2014/main" id="{57B7D411-14CB-8390-151A-D93AD96D7CAB}"/>
              </a:ext>
            </a:extLst>
          </p:cNvPr>
          <p:cNvSpPr txBox="1">
            <a:spLocks/>
          </p:cNvSpPr>
          <p:nvPr/>
        </p:nvSpPr>
        <p:spPr>
          <a:xfrm>
            <a:off x="581192" y="702156"/>
            <a:ext cx="6584242" cy="529878"/>
          </a:xfrm>
          <a:prstGeom prst="rect">
            <a:avLst/>
          </a:prstGeom>
        </p:spPr>
        <p:txBody>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4. Industrialisation et déploiement</a:t>
            </a:r>
          </a:p>
        </p:txBody>
      </p:sp>
      <p:pic>
        <p:nvPicPr>
          <p:cNvPr id="12" name="Image 11">
            <a:extLst>
              <a:ext uri="{FF2B5EF4-FFF2-40B4-BE49-F238E27FC236}">
                <a16:creationId xmlns:a16="http://schemas.microsoft.com/office/drawing/2014/main" id="{8C076B2E-D09C-BBFF-0565-8D64F8D52DE6}"/>
              </a:ext>
            </a:extLst>
          </p:cNvPr>
          <p:cNvPicPr>
            <a:picLocks noChangeAspect="1"/>
          </p:cNvPicPr>
          <p:nvPr/>
        </p:nvPicPr>
        <p:blipFill>
          <a:blip r:embed="rId3"/>
          <a:stretch>
            <a:fillRect/>
          </a:stretch>
        </p:blipFill>
        <p:spPr>
          <a:xfrm>
            <a:off x="8192641" y="5087427"/>
            <a:ext cx="492860" cy="492860"/>
          </a:xfrm>
          <a:prstGeom prst="rect">
            <a:avLst/>
          </a:prstGeom>
        </p:spPr>
      </p:pic>
      <p:pic>
        <p:nvPicPr>
          <p:cNvPr id="14" name="Image 13">
            <a:extLst>
              <a:ext uri="{FF2B5EF4-FFF2-40B4-BE49-F238E27FC236}">
                <a16:creationId xmlns:a16="http://schemas.microsoft.com/office/drawing/2014/main" id="{43E518B8-D7EF-8BCC-6EBD-AA6AC9242E41}"/>
              </a:ext>
            </a:extLst>
          </p:cNvPr>
          <p:cNvPicPr>
            <a:picLocks noChangeAspect="1"/>
          </p:cNvPicPr>
          <p:nvPr/>
        </p:nvPicPr>
        <p:blipFill>
          <a:blip r:embed="rId4"/>
          <a:stretch>
            <a:fillRect/>
          </a:stretch>
        </p:blipFill>
        <p:spPr>
          <a:xfrm>
            <a:off x="7626695" y="5067447"/>
            <a:ext cx="455895" cy="492860"/>
          </a:xfrm>
          <a:prstGeom prst="rect">
            <a:avLst/>
          </a:prstGeom>
        </p:spPr>
      </p:pic>
      <p:pic>
        <p:nvPicPr>
          <p:cNvPr id="15" name="Image 14">
            <a:extLst>
              <a:ext uri="{FF2B5EF4-FFF2-40B4-BE49-F238E27FC236}">
                <a16:creationId xmlns:a16="http://schemas.microsoft.com/office/drawing/2014/main" id="{64B733CE-FD4A-477C-AAB0-9EE778BCF70C}"/>
              </a:ext>
            </a:extLst>
          </p:cNvPr>
          <p:cNvPicPr>
            <a:picLocks noChangeAspect="1"/>
          </p:cNvPicPr>
          <p:nvPr/>
        </p:nvPicPr>
        <p:blipFill>
          <a:blip r:embed="rId5"/>
          <a:srcRect t="58159"/>
          <a:stretch/>
        </p:blipFill>
        <p:spPr>
          <a:xfrm>
            <a:off x="9365503" y="5039029"/>
            <a:ext cx="2605209" cy="1323239"/>
          </a:xfrm>
          <a:prstGeom prst="rect">
            <a:avLst/>
          </a:prstGeom>
        </p:spPr>
      </p:pic>
    </p:spTree>
    <p:extLst>
      <p:ext uri="{BB962C8B-B14F-4D97-AF65-F5344CB8AC3E}">
        <p14:creationId xmlns:p14="http://schemas.microsoft.com/office/powerpoint/2010/main" val="378257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B2FB9F8-72E6-D2C7-0867-FB064512D310}"/>
              </a:ext>
            </a:extLst>
          </p:cNvPr>
          <p:cNvSpPr>
            <a:spLocks noGrp="1"/>
          </p:cNvSpPr>
          <p:nvPr>
            <p:ph idx="1"/>
          </p:nvPr>
        </p:nvSpPr>
        <p:spPr>
          <a:xfrm>
            <a:off x="581192" y="1336809"/>
            <a:ext cx="6584242" cy="5452229"/>
          </a:xfrm>
        </p:spPr>
        <p:txBody>
          <a:bodyPr>
            <a:normAutofit/>
          </a:bodyPr>
          <a:lstStyle/>
          <a:p>
            <a:r>
              <a:rPr lang="fr-FR" sz="1800" dirty="0"/>
              <a:t>Quel que soit l’OS client, les images sur </a:t>
            </a:r>
            <a:r>
              <a:rPr lang="fr-FR" sz="1800" dirty="0" err="1"/>
              <a:t>DockerHub</a:t>
            </a:r>
            <a:r>
              <a:rPr lang="fr-FR" sz="1800" dirty="0"/>
              <a:t> permettent un déploiement simple et à jour</a:t>
            </a:r>
          </a:p>
          <a:p>
            <a:r>
              <a:rPr lang="fr-FR" sz="1800" dirty="0"/>
              <a:t>Le module de réentrainement permet de suivre l’évolution du besoin métier</a:t>
            </a:r>
          </a:p>
          <a:p>
            <a:r>
              <a:rPr lang="fr-FR" sz="1800" dirty="0"/>
              <a:t>La base de données peut intégrer de nouvelles variables (données capteur par exemple)</a:t>
            </a:r>
          </a:p>
          <a:p>
            <a:endParaRPr lang="en-US" dirty="0"/>
          </a:p>
          <a:p>
            <a:r>
              <a:rPr lang="en-US" sz="1800" dirty="0"/>
              <a:t>Pour </a:t>
            </a:r>
            <a:r>
              <a:rPr lang="en-US" sz="1800" dirty="0" err="1"/>
              <a:t>aller</a:t>
            </a:r>
            <a:r>
              <a:rPr lang="en-US" sz="1800" dirty="0"/>
              <a:t> plus loin, à considerer avec le client final</a:t>
            </a:r>
          </a:p>
          <a:p>
            <a:pPr lvl="1"/>
            <a:r>
              <a:rPr lang="en-US" dirty="0"/>
              <a:t>Les aspects </a:t>
            </a:r>
            <a:r>
              <a:rPr lang="en-US" dirty="0" err="1"/>
              <a:t>sécurité</a:t>
            </a:r>
            <a:r>
              <a:rPr lang="en-US" dirty="0"/>
              <a:t> (certificate webs et API)</a:t>
            </a:r>
          </a:p>
          <a:p>
            <a:pPr lvl="1"/>
            <a:r>
              <a:rPr lang="en-US" dirty="0"/>
              <a:t>Haute </a:t>
            </a:r>
            <a:r>
              <a:rPr lang="en-US" dirty="0" err="1"/>
              <a:t>disponibilité</a:t>
            </a:r>
            <a:r>
              <a:rPr lang="en-US" dirty="0"/>
              <a:t>: </a:t>
            </a:r>
            <a:r>
              <a:rPr lang="en-US" dirty="0" err="1"/>
              <a:t>sauvegarde</a:t>
            </a:r>
            <a:r>
              <a:rPr lang="en-US" dirty="0"/>
              <a:t>, </a:t>
            </a:r>
            <a:r>
              <a:rPr lang="en-US" dirty="0" err="1"/>
              <a:t>redondance</a:t>
            </a:r>
            <a:endParaRPr lang="en-US" dirty="0"/>
          </a:p>
          <a:p>
            <a:pPr lvl="1"/>
            <a:r>
              <a:rPr lang="en-US" dirty="0"/>
              <a:t>Supervision: à la charge/avec les </a:t>
            </a:r>
            <a:r>
              <a:rPr lang="en-US" dirty="0" err="1"/>
              <a:t>outils</a:t>
            </a:r>
            <a:r>
              <a:rPr lang="en-US" dirty="0"/>
              <a:t> clients</a:t>
            </a:r>
          </a:p>
        </p:txBody>
      </p:sp>
      <p:sp>
        <p:nvSpPr>
          <p:cNvPr id="4" name="Espace réservé de la date 3">
            <a:extLst>
              <a:ext uri="{FF2B5EF4-FFF2-40B4-BE49-F238E27FC236}">
                <a16:creationId xmlns:a16="http://schemas.microsoft.com/office/drawing/2014/main" id="{279C9FBD-AD7F-4649-12C4-C066BE57A369}"/>
              </a:ext>
            </a:extLst>
          </p:cNvPr>
          <p:cNvSpPr>
            <a:spLocks noGrp="1"/>
          </p:cNvSpPr>
          <p:nvPr>
            <p:ph type="dt" sz="half" idx="10"/>
          </p:nvPr>
        </p:nvSpPr>
        <p:spPr/>
        <p:txBody>
          <a:bodyPr/>
          <a:lstStyle/>
          <a:p>
            <a:pPr rtl="0"/>
            <a:fld id="{22897033-9A55-4DAC-991D-1FF1921C78B7}" type="datetime1">
              <a:rPr lang="fr-FR" smtClean="0"/>
              <a:t>30/06/2026</a:t>
            </a:fld>
            <a:endParaRPr lang="en-US" dirty="0"/>
          </a:p>
        </p:txBody>
      </p:sp>
      <p:sp>
        <p:nvSpPr>
          <p:cNvPr id="5" name="Titre 1">
            <a:extLst>
              <a:ext uri="{FF2B5EF4-FFF2-40B4-BE49-F238E27FC236}">
                <a16:creationId xmlns:a16="http://schemas.microsoft.com/office/drawing/2014/main" id="{8386A4A7-BE19-0785-6BB8-E2D94AEE806A}"/>
              </a:ext>
            </a:extLst>
          </p:cNvPr>
          <p:cNvSpPr txBox="1">
            <a:spLocks/>
          </p:cNvSpPr>
          <p:nvPr/>
        </p:nvSpPr>
        <p:spPr>
          <a:xfrm>
            <a:off x="581192" y="702156"/>
            <a:ext cx="6584242" cy="529878"/>
          </a:xfrm>
          <a:prstGeom prst="rect">
            <a:avLst/>
          </a:prstGeom>
        </p:spPr>
        <p:txBody>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5. Déploiement Client</a:t>
            </a:r>
          </a:p>
        </p:txBody>
      </p:sp>
      <p:pic>
        <p:nvPicPr>
          <p:cNvPr id="9" name="Image 8">
            <a:extLst>
              <a:ext uri="{FF2B5EF4-FFF2-40B4-BE49-F238E27FC236}">
                <a16:creationId xmlns:a16="http://schemas.microsoft.com/office/drawing/2014/main" id="{6022BE23-C111-1CC6-90FD-42FFDF3B81AB}"/>
              </a:ext>
            </a:extLst>
          </p:cNvPr>
          <p:cNvPicPr>
            <a:picLocks noChangeAspect="1"/>
          </p:cNvPicPr>
          <p:nvPr/>
        </p:nvPicPr>
        <p:blipFill>
          <a:blip r:embed="rId3"/>
          <a:stretch>
            <a:fillRect/>
          </a:stretch>
        </p:blipFill>
        <p:spPr>
          <a:xfrm>
            <a:off x="7605951" y="1885304"/>
            <a:ext cx="1728279" cy="685176"/>
          </a:xfrm>
          <a:prstGeom prst="rect">
            <a:avLst/>
          </a:prstGeom>
        </p:spPr>
      </p:pic>
    </p:spTree>
    <p:extLst>
      <p:ext uri="{BB962C8B-B14F-4D97-AF65-F5344CB8AC3E}">
        <p14:creationId xmlns:p14="http://schemas.microsoft.com/office/powerpoint/2010/main" val="571924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AD831A83-AC78-88FD-BB6D-F241E607DFB8}"/>
              </a:ext>
            </a:extLst>
          </p:cNvPr>
          <p:cNvPicPr>
            <a:picLocks noChangeAspect="1"/>
          </p:cNvPicPr>
          <p:nvPr/>
        </p:nvPicPr>
        <p:blipFill>
          <a:blip r:embed="rId3"/>
          <a:stretch>
            <a:fillRect/>
          </a:stretch>
        </p:blipFill>
        <p:spPr>
          <a:xfrm>
            <a:off x="5421836" y="1455266"/>
            <a:ext cx="6411582" cy="4520084"/>
          </a:xfrm>
          <a:prstGeom prst="rect">
            <a:avLst/>
          </a:prstGeom>
        </p:spPr>
      </p:pic>
      <p:sp>
        <p:nvSpPr>
          <p:cNvPr id="3" name="Espace réservé du contenu 2">
            <a:extLst>
              <a:ext uri="{FF2B5EF4-FFF2-40B4-BE49-F238E27FC236}">
                <a16:creationId xmlns:a16="http://schemas.microsoft.com/office/drawing/2014/main" id="{CB2FB9F8-72E6-D2C7-0867-FB064512D310}"/>
              </a:ext>
            </a:extLst>
          </p:cNvPr>
          <p:cNvSpPr>
            <a:spLocks noGrp="1"/>
          </p:cNvSpPr>
          <p:nvPr>
            <p:ph idx="1"/>
          </p:nvPr>
        </p:nvSpPr>
        <p:spPr>
          <a:xfrm>
            <a:off x="581192" y="1336810"/>
            <a:ext cx="5941528" cy="4638540"/>
          </a:xfrm>
        </p:spPr>
        <p:txBody>
          <a:bodyPr>
            <a:normAutofit/>
          </a:bodyPr>
          <a:lstStyle/>
          <a:p>
            <a:r>
              <a:rPr lang="en-US" sz="2000" dirty="0"/>
              <a:t>En Machine Learning </a:t>
            </a:r>
            <a:r>
              <a:rPr lang="en-US" sz="2000" dirty="0" err="1"/>
              <a:t>l’évidence</a:t>
            </a:r>
            <a:r>
              <a:rPr lang="en-US" sz="2000" dirty="0"/>
              <a:t> du choix du </a:t>
            </a:r>
            <a:r>
              <a:rPr lang="en-US" sz="2000" dirty="0" err="1"/>
              <a:t>modèle</a:t>
            </a:r>
            <a:r>
              <a:rPr lang="en-US" sz="2000" dirty="0"/>
              <a:t> </a:t>
            </a:r>
            <a:r>
              <a:rPr lang="en-US" sz="2000" dirty="0" err="1"/>
              <a:t>n’existe</a:t>
            </a:r>
            <a:r>
              <a:rPr lang="en-US" sz="2000" dirty="0"/>
              <a:t> pas; les </a:t>
            </a:r>
            <a:r>
              <a:rPr lang="en-US" sz="2000" dirty="0" err="1"/>
              <a:t>meilleurs</a:t>
            </a:r>
            <a:r>
              <a:rPr lang="en-US" sz="2000" dirty="0"/>
              <a:t> </a:t>
            </a:r>
            <a:r>
              <a:rPr lang="en-US" sz="2000" dirty="0" err="1"/>
              <a:t>résultats</a:t>
            </a:r>
            <a:r>
              <a:rPr lang="en-US" sz="2000" dirty="0"/>
              <a:t> dependent des données </a:t>
            </a:r>
            <a:r>
              <a:rPr lang="en-US" sz="2000" dirty="0" err="1"/>
              <a:t>utilisées</a:t>
            </a:r>
            <a:r>
              <a:rPr lang="en-US" sz="2000" dirty="0"/>
              <a:t>.</a:t>
            </a:r>
          </a:p>
          <a:p>
            <a:r>
              <a:rPr lang="en-US" sz="2000" dirty="0"/>
              <a:t>Le métier </a:t>
            </a:r>
            <a:r>
              <a:rPr lang="en-US" sz="2000" dirty="0" err="1"/>
              <a:t>tient</a:t>
            </a:r>
            <a:r>
              <a:rPr lang="en-US" sz="2000" dirty="0"/>
              <a:t> </a:t>
            </a:r>
            <a:r>
              <a:rPr lang="en-US" sz="2000" dirty="0" err="1"/>
              <a:t>une</a:t>
            </a:r>
            <a:r>
              <a:rPr lang="en-US" sz="2000" dirty="0"/>
              <a:t> </a:t>
            </a:r>
            <a:r>
              <a:rPr lang="en-US" sz="2000" dirty="0" err="1"/>
              <a:t>valeur</a:t>
            </a:r>
            <a:r>
              <a:rPr lang="en-US" sz="2000" dirty="0"/>
              <a:t> </a:t>
            </a:r>
            <a:r>
              <a:rPr lang="en-US" sz="2000" dirty="0" err="1"/>
              <a:t>prépondérante</a:t>
            </a:r>
            <a:r>
              <a:rPr lang="en-US" sz="2000" dirty="0"/>
              <a:t> dans </a:t>
            </a:r>
            <a:r>
              <a:rPr lang="en-US" sz="2000" dirty="0" err="1"/>
              <a:t>ce</a:t>
            </a:r>
            <a:r>
              <a:rPr lang="en-US" sz="2000" dirty="0"/>
              <a:t> choix</a:t>
            </a:r>
          </a:p>
          <a:p>
            <a:r>
              <a:rPr lang="en-US" sz="2000" dirty="0"/>
              <a:t>L’IA </a:t>
            </a:r>
            <a:r>
              <a:rPr lang="en-US" sz="2000" dirty="0" err="1"/>
              <a:t>reste</a:t>
            </a:r>
            <a:r>
              <a:rPr lang="en-US" sz="2000" dirty="0"/>
              <a:t> un formidable </a:t>
            </a:r>
            <a:r>
              <a:rPr lang="en-US" sz="2000" dirty="0" err="1"/>
              <a:t>outil</a:t>
            </a:r>
            <a:r>
              <a:rPr lang="en-US" sz="2000" dirty="0"/>
              <a:t> </a:t>
            </a:r>
            <a:r>
              <a:rPr lang="en-US" sz="2000" dirty="0" err="1"/>
              <a:t>d’aide</a:t>
            </a:r>
            <a:r>
              <a:rPr lang="en-US" sz="2000" dirty="0"/>
              <a:t> </a:t>
            </a:r>
            <a:r>
              <a:rPr lang="en-US" sz="2000" dirty="0" err="1"/>
              <a:t>mais</a:t>
            </a:r>
            <a:r>
              <a:rPr lang="en-US" sz="2000" dirty="0"/>
              <a:t> </a:t>
            </a:r>
            <a:r>
              <a:rPr lang="en-US" sz="2000" dirty="0" err="1"/>
              <a:t>une</a:t>
            </a:r>
            <a:r>
              <a:rPr lang="en-US" sz="2000" dirty="0"/>
              <a:t> </a:t>
            </a:r>
            <a:r>
              <a:rPr lang="en-US" sz="2000" dirty="0" err="1"/>
              <a:t>décision</a:t>
            </a:r>
            <a:r>
              <a:rPr lang="en-US" sz="2000" dirty="0"/>
              <a:t> finale doit </a:t>
            </a:r>
            <a:r>
              <a:rPr lang="en-US" sz="2000" dirty="0" err="1"/>
              <a:t>être</a:t>
            </a:r>
            <a:r>
              <a:rPr lang="en-US" sz="2000" dirty="0"/>
              <a:t> humaine.</a:t>
            </a:r>
          </a:p>
        </p:txBody>
      </p:sp>
      <p:sp>
        <p:nvSpPr>
          <p:cNvPr id="4" name="Espace réservé de la date 3">
            <a:extLst>
              <a:ext uri="{FF2B5EF4-FFF2-40B4-BE49-F238E27FC236}">
                <a16:creationId xmlns:a16="http://schemas.microsoft.com/office/drawing/2014/main" id="{279C9FBD-AD7F-4649-12C4-C066BE57A369}"/>
              </a:ext>
            </a:extLst>
          </p:cNvPr>
          <p:cNvSpPr>
            <a:spLocks noGrp="1"/>
          </p:cNvSpPr>
          <p:nvPr>
            <p:ph type="dt" sz="half" idx="10"/>
          </p:nvPr>
        </p:nvSpPr>
        <p:spPr/>
        <p:txBody>
          <a:bodyPr/>
          <a:lstStyle/>
          <a:p>
            <a:pPr rtl="0"/>
            <a:fld id="{22897033-9A55-4DAC-991D-1FF1921C78B7}" type="datetime1">
              <a:rPr lang="fr-FR" smtClean="0"/>
              <a:t>30/06/2026</a:t>
            </a:fld>
            <a:endParaRPr lang="en-US" dirty="0"/>
          </a:p>
        </p:txBody>
      </p:sp>
      <p:sp>
        <p:nvSpPr>
          <p:cNvPr id="5" name="Titre 1">
            <a:extLst>
              <a:ext uri="{FF2B5EF4-FFF2-40B4-BE49-F238E27FC236}">
                <a16:creationId xmlns:a16="http://schemas.microsoft.com/office/drawing/2014/main" id="{8386A4A7-BE19-0785-6BB8-E2D94AEE806A}"/>
              </a:ext>
            </a:extLst>
          </p:cNvPr>
          <p:cNvSpPr txBox="1">
            <a:spLocks/>
          </p:cNvSpPr>
          <p:nvPr/>
        </p:nvSpPr>
        <p:spPr>
          <a:xfrm>
            <a:off x="581192" y="702156"/>
            <a:ext cx="6584242" cy="529878"/>
          </a:xfrm>
          <a:prstGeom prst="rect">
            <a:avLst/>
          </a:prstGeom>
        </p:spPr>
        <p:txBody>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5. Conclusion</a:t>
            </a:r>
          </a:p>
        </p:txBody>
      </p:sp>
      <p:sp>
        <p:nvSpPr>
          <p:cNvPr id="7" name="ZoneTexte 6">
            <a:extLst>
              <a:ext uri="{FF2B5EF4-FFF2-40B4-BE49-F238E27FC236}">
                <a16:creationId xmlns:a16="http://schemas.microsoft.com/office/drawing/2014/main" id="{3C3203B0-7707-A38F-3780-F1B55F829951}"/>
              </a:ext>
            </a:extLst>
          </p:cNvPr>
          <p:cNvSpPr txBox="1"/>
          <p:nvPr/>
        </p:nvSpPr>
        <p:spPr>
          <a:xfrm>
            <a:off x="7051040" y="5975350"/>
            <a:ext cx="4782378" cy="307777"/>
          </a:xfrm>
          <a:prstGeom prst="rect">
            <a:avLst/>
          </a:prstGeom>
          <a:noFill/>
        </p:spPr>
        <p:txBody>
          <a:bodyPr wrap="square" rtlCol="0">
            <a:spAutoFit/>
          </a:bodyPr>
          <a:lstStyle/>
          <a:p>
            <a:r>
              <a:rPr lang="fr-FR" sz="1400" dirty="0">
                <a:solidFill>
                  <a:schemeClr val="bg2">
                    <a:lumMod val="50000"/>
                  </a:schemeClr>
                </a:solidFill>
              </a:rPr>
              <a:t>Extrait, « </a:t>
            </a:r>
            <a:r>
              <a:rPr lang="fr-FR" sz="1400" dirty="0" err="1">
                <a:solidFill>
                  <a:schemeClr val="bg2">
                    <a:lumMod val="50000"/>
                  </a:schemeClr>
                </a:solidFill>
              </a:rPr>
              <a:t>reorienter_urgences</a:t>
            </a:r>
            <a:r>
              <a:rPr lang="fr-FR" sz="1400" dirty="0">
                <a:solidFill>
                  <a:schemeClr val="bg2">
                    <a:lumMod val="50000"/>
                  </a:schemeClr>
                </a:solidFill>
              </a:rPr>
              <a:t>, www.anap.fr, Juin 2026</a:t>
            </a:r>
          </a:p>
        </p:txBody>
      </p:sp>
    </p:spTree>
    <p:extLst>
      <p:ext uri="{BB962C8B-B14F-4D97-AF65-F5344CB8AC3E}">
        <p14:creationId xmlns:p14="http://schemas.microsoft.com/office/powerpoint/2010/main" val="4012431276"/>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41798773_TF33552983" id="{8919647C-0055-458C-B827-A2A950DB19BD}" vid="{05B00E4D-3D0B-4DF2-A663-65D33D96257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{D690FCD2-9E6B-4A0E-8941-E996C3A8834D}TF201209c3-d067-44f9-a26f-c8f216c44313bd85a48a_win32-aaf37d2e3a1e</Template>
  <TotalTime>0</TotalTime>
  <Words>1382</Words>
  <Application>Microsoft Office PowerPoint</Application>
  <PresentationFormat>Grand écran</PresentationFormat>
  <Paragraphs>129</Paragraphs>
  <Slides>11</Slides>
  <Notes>7</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11</vt:i4>
      </vt:variant>
    </vt:vector>
  </HeadingPairs>
  <TitlesOfParts>
    <vt:vector size="21" baseType="lpstr">
      <vt:lpstr>Aptos</vt:lpstr>
      <vt:lpstr>Arial</vt:lpstr>
      <vt:lpstr>Calibri</vt:lpstr>
      <vt:lpstr>Courier New</vt:lpstr>
      <vt:lpstr>Franklin Gothic Book</vt:lpstr>
      <vt:lpstr>Franklin Gothic Demi</vt:lpstr>
      <vt:lpstr>Segoe UI</vt:lpstr>
      <vt:lpstr>Symbol</vt:lpstr>
      <vt:lpstr>Wingdings 2</vt:lpstr>
      <vt:lpstr>DividendVTI</vt:lpstr>
      <vt:lpstr>Machine learning : Diagnostic assisté et tri d'urgence multimodal en télémédecine</vt:lpstr>
      <vt:lpstr>Contexte</vt:lpstr>
      <vt:lpstr>Phases du projet</vt:lpstr>
      <vt:lpstr>1. DATA – a) Analyse</vt:lpstr>
      <vt:lpstr>1.DATA – b) Technique</vt:lpstr>
      <vt:lpstr>2. Machine LEARNING: RUN 1</vt:lpstr>
      <vt:lpstr>2. Machine LEARNING: RUN 2</vt:lpstr>
      <vt:lpstr>3. résultats et Choix</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Bruno Biscay</dc:creator>
  <cp:lastModifiedBy>Bruno Biscay</cp:lastModifiedBy>
  <cp:revision>32</cp:revision>
  <dcterms:created xsi:type="dcterms:W3CDTF">2026-06-15T19:25:41Z</dcterms:created>
  <dcterms:modified xsi:type="dcterms:W3CDTF">2026-06-30T19:52:53Z</dcterms:modified>
</cp:coreProperties>
</file>